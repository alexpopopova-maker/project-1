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6" r:id="rId1"/>
  </p:sldMasterIdLst>
  <p:sldIdLst>
    <p:sldId id="256" r:id="rId2"/>
    <p:sldId id="269" r:id="rId3"/>
    <p:sldId id="257" r:id="rId4"/>
    <p:sldId id="258" r:id="rId5"/>
    <p:sldId id="259" r:id="rId6"/>
    <p:sldId id="260" r:id="rId7"/>
    <p:sldId id="261" r:id="rId8"/>
    <p:sldId id="267" r:id="rId9"/>
    <p:sldId id="268" r:id="rId10"/>
    <p:sldId id="262" r:id="rId11"/>
    <p:sldId id="263" r:id="rId12"/>
    <p:sldId id="264" r:id="rId13"/>
    <p:sldId id="265" r:id="rId14"/>
    <p:sldId id="266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5599D44-5208-4242-A66A-421D3851B784}" type="doc">
      <dgm:prSet loTypeId="urn:microsoft.com/office/officeart/2005/8/layout/defaul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EB81ACD-C65F-4730-AAD7-DFA2F185557E}">
      <dgm:prSet/>
      <dgm:spPr/>
      <dgm:t>
        <a:bodyPr/>
        <a:lstStyle/>
        <a:p>
          <a:r>
            <a:rPr lang="en-US" b="0" i="0"/>
            <a:t>• Управление на автомобилно огледало по X и Y</a:t>
          </a:r>
          <a:endParaRPr lang="en-US"/>
        </a:p>
      </dgm:t>
    </dgm:pt>
    <dgm:pt modelId="{FCC834D3-1D47-4C3E-8E79-843182B0BD3D}" type="parTrans" cxnId="{13772CFA-D0A9-449A-8504-B0EB8D436754}">
      <dgm:prSet/>
      <dgm:spPr/>
      <dgm:t>
        <a:bodyPr/>
        <a:lstStyle/>
        <a:p>
          <a:endParaRPr lang="en-US"/>
        </a:p>
      </dgm:t>
    </dgm:pt>
    <dgm:pt modelId="{C1FAF0FA-05BA-424F-9DA4-8E2B846C84AF}" type="sibTrans" cxnId="{13772CFA-D0A9-449A-8504-B0EB8D436754}">
      <dgm:prSet/>
      <dgm:spPr/>
      <dgm:t>
        <a:bodyPr/>
        <a:lstStyle/>
        <a:p>
          <a:endParaRPr lang="en-US"/>
        </a:p>
      </dgm:t>
    </dgm:pt>
    <dgm:pt modelId="{D9351E9E-ECF3-4A8D-9C6D-2BC61024F505}">
      <dgm:prSet/>
      <dgm:spPr/>
      <dgm:t>
        <a:bodyPr/>
        <a:lstStyle/>
        <a:p>
          <a:r>
            <a:rPr lang="en-US" b="0" i="0"/>
            <a:t>• PWM управление на задвижванията</a:t>
          </a:r>
          <a:endParaRPr lang="en-US"/>
        </a:p>
      </dgm:t>
    </dgm:pt>
    <dgm:pt modelId="{F63080DA-1EBD-4486-B1F6-9A8EA30231A6}" type="parTrans" cxnId="{1347861F-AAB6-4D63-9080-759F39CA73A2}">
      <dgm:prSet/>
      <dgm:spPr/>
      <dgm:t>
        <a:bodyPr/>
        <a:lstStyle/>
        <a:p>
          <a:endParaRPr lang="en-US"/>
        </a:p>
      </dgm:t>
    </dgm:pt>
    <dgm:pt modelId="{51E12164-F03C-4A26-A112-A7959448EA1C}" type="sibTrans" cxnId="{1347861F-AAB6-4D63-9080-759F39CA73A2}">
      <dgm:prSet/>
      <dgm:spPr/>
      <dgm:t>
        <a:bodyPr/>
        <a:lstStyle/>
        <a:p>
          <a:endParaRPr lang="en-US"/>
        </a:p>
      </dgm:t>
    </dgm:pt>
    <dgm:pt modelId="{4C7B3D1B-4CCE-4D14-B300-5D4953797EC9}">
      <dgm:prSet/>
      <dgm:spPr/>
      <dgm:t>
        <a:bodyPr/>
        <a:lstStyle/>
        <a:p>
          <a:r>
            <a:rPr lang="en-US" b="0" i="0"/>
            <a:t>• Обратна връзка за позиция и ток</a:t>
          </a:r>
          <a:endParaRPr lang="en-US"/>
        </a:p>
      </dgm:t>
    </dgm:pt>
    <dgm:pt modelId="{717D5FC9-36BD-4F81-94F3-AE588C174E71}" type="parTrans" cxnId="{BEA90AEB-4CE2-4C2E-AB74-E2646F8D98AF}">
      <dgm:prSet/>
      <dgm:spPr/>
      <dgm:t>
        <a:bodyPr/>
        <a:lstStyle/>
        <a:p>
          <a:endParaRPr lang="en-US"/>
        </a:p>
      </dgm:t>
    </dgm:pt>
    <dgm:pt modelId="{210706A0-B6F0-443F-B5DE-D4119C44F772}" type="sibTrans" cxnId="{BEA90AEB-4CE2-4C2E-AB74-E2646F8D98AF}">
      <dgm:prSet/>
      <dgm:spPr/>
      <dgm:t>
        <a:bodyPr/>
        <a:lstStyle/>
        <a:p>
          <a:endParaRPr lang="en-US"/>
        </a:p>
      </dgm:t>
    </dgm:pt>
    <dgm:pt modelId="{B6B65D37-DB34-4007-A4F4-8435D6394B30}">
      <dgm:prSet/>
      <dgm:spPr/>
      <dgm:t>
        <a:bodyPr/>
        <a:lstStyle/>
        <a:p>
          <a:r>
            <a:rPr lang="en-US" b="0" i="0"/>
            <a:t>• Управление на мигач</a:t>
          </a:r>
          <a:endParaRPr lang="en-US"/>
        </a:p>
      </dgm:t>
    </dgm:pt>
    <dgm:pt modelId="{3402205A-74F5-4B6E-A928-CD74821A2188}" type="parTrans" cxnId="{2BAFBFCB-39CE-4F33-B513-315690DBEE1B}">
      <dgm:prSet/>
      <dgm:spPr/>
      <dgm:t>
        <a:bodyPr/>
        <a:lstStyle/>
        <a:p>
          <a:endParaRPr lang="en-US"/>
        </a:p>
      </dgm:t>
    </dgm:pt>
    <dgm:pt modelId="{9610C37C-1D3B-41FE-B974-50592F2E195C}" type="sibTrans" cxnId="{2BAFBFCB-39CE-4F33-B513-315690DBEE1B}">
      <dgm:prSet/>
      <dgm:spPr/>
      <dgm:t>
        <a:bodyPr/>
        <a:lstStyle/>
        <a:p>
          <a:endParaRPr lang="en-US"/>
        </a:p>
      </dgm:t>
    </dgm:pt>
    <dgm:pt modelId="{F06BC2A9-67AA-484F-A52A-0D18011105C5}">
      <dgm:prSet/>
      <dgm:spPr/>
      <dgm:t>
        <a:bodyPr/>
        <a:lstStyle/>
        <a:p>
          <a:r>
            <a:rPr lang="en-US" b="0" i="0"/>
            <a:t>• Комуникация с PC (USB CDC)</a:t>
          </a:r>
          <a:endParaRPr lang="en-US"/>
        </a:p>
      </dgm:t>
    </dgm:pt>
    <dgm:pt modelId="{CD4EA86E-8C3D-48E0-92A6-780B75E08553}" type="parTrans" cxnId="{A3280810-BB40-48A5-B8C3-A34385D64B55}">
      <dgm:prSet/>
      <dgm:spPr/>
      <dgm:t>
        <a:bodyPr/>
        <a:lstStyle/>
        <a:p>
          <a:endParaRPr lang="en-US"/>
        </a:p>
      </dgm:t>
    </dgm:pt>
    <dgm:pt modelId="{157FA37E-25A9-4987-A984-4B8AD72CA151}" type="sibTrans" cxnId="{A3280810-BB40-48A5-B8C3-A34385D64B55}">
      <dgm:prSet/>
      <dgm:spPr/>
      <dgm:t>
        <a:bodyPr/>
        <a:lstStyle/>
        <a:p>
          <a:endParaRPr lang="en-US"/>
        </a:p>
      </dgm:t>
    </dgm:pt>
    <dgm:pt modelId="{CAE74DE4-7832-4798-99C7-60060D34E9F9}">
      <dgm:prSet/>
      <dgm:spPr/>
      <dgm:t>
        <a:bodyPr/>
        <a:lstStyle/>
        <a:p>
          <a:r>
            <a:rPr lang="en-US" b="0" i="0"/>
            <a:t>• Диагностика</a:t>
          </a:r>
          <a:endParaRPr lang="en-US"/>
        </a:p>
      </dgm:t>
    </dgm:pt>
    <dgm:pt modelId="{BD45ACF9-6035-43D5-9603-4FA3EDD8D990}" type="parTrans" cxnId="{6F93CA95-F51E-4DE7-9810-FB269FB4DDC5}">
      <dgm:prSet/>
      <dgm:spPr/>
      <dgm:t>
        <a:bodyPr/>
        <a:lstStyle/>
        <a:p>
          <a:endParaRPr lang="en-US"/>
        </a:p>
      </dgm:t>
    </dgm:pt>
    <dgm:pt modelId="{92DBFB72-AA99-4457-BEB7-7FE20A6A601E}" type="sibTrans" cxnId="{6F93CA95-F51E-4DE7-9810-FB269FB4DDC5}">
      <dgm:prSet/>
      <dgm:spPr/>
      <dgm:t>
        <a:bodyPr/>
        <a:lstStyle/>
        <a:p>
          <a:endParaRPr lang="en-US"/>
        </a:p>
      </dgm:t>
    </dgm:pt>
    <dgm:pt modelId="{04E4879D-C74C-43EB-9121-AB3301BB658D}" type="pres">
      <dgm:prSet presAssocID="{B5599D44-5208-4242-A66A-421D3851B784}" presName="diagram" presStyleCnt="0">
        <dgm:presLayoutVars>
          <dgm:dir/>
          <dgm:resizeHandles val="exact"/>
        </dgm:presLayoutVars>
      </dgm:prSet>
      <dgm:spPr/>
    </dgm:pt>
    <dgm:pt modelId="{0A03576B-EF4E-4D38-B6F1-CFCC76451E1A}" type="pres">
      <dgm:prSet presAssocID="{1EB81ACD-C65F-4730-AAD7-DFA2F185557E}" presName="node" presStyleLbl="node1" presStyleIdx="0" presStyleCnt="6">
        <dgm:presLayoutVars>
          <dgm:bulletEnabled val="1"/>
        </dgm:presLayoutVars>
      </dgm:prSet>
      <dgm:spPr/>
    </dgm:pt>
    <dgm:pt modelId="{85E60194-D6F0-419E-94B5-845A2D6CDB76}" type="pres">
      <dgm:prSet presAssocID="{C1FAF0FA-05BA-424F-9DA4-8E2B846C84AF}" presName="sibTrans" presStyleCnt="0"/>
      <dgm:spPr/>
    </dgm:pt>
    <dgm:pt modelId="{7DD4A22D-879F-49AE-B7EE-86C5BF57DCD4}" type="pres">
      <dgm:prSet presAssocID="{D9351E9E-ECF3-4A8D-9C6D-2BC61024F505}" presName="node" presStyleLbl="node1" presStyleIdx="1" presStyleCnt="6">
        <dgm:presLayoutVars>
          <dgm:bulletEnabled val="1"/>
        </dgm:presLayoutVars>
      </dgm:prSet>
      <dgm:spPr/>
    </dgm:pt>
    <dgm:pt modelId="{3C0A8423-D84E-4B67-966C-98FF985B9FA0}" type="pres">
      <dgm:prSet presAssocID="{51E12164-F03C-4A26-A112-A7959448EA1C}" presName="sibTrans" presStyleCnt="0"/>
      <dgm:spPr/>
    </dgm:pt>
    <dgm:pt modelId="{8914B8D6-FCBD-4D00-B7CD-47CA9309493A}" type="pres">
      <dgm:prSet presAssocID="{4C7B3D1B-4CCE-4D14-B300-5D4953797EC9}" presName="node" presStyleLbl="node1" presStyleIdx="2" presStyleCnt="6">
        <dgm:presLayoutVars>
          <dgm:bulletEnabled val="1"/>
        </dgm:presLayoutVars>
      </dgm:prSet>
      <dgm:spPr/>
    </dgm:pt>
    <dgm:pt modelId="{1FF16C17-E0AC-46A6-8248-C557E878F9B0}" type="pres">
      <dgm:prSet presAssocID="{210706A0-B6F0-443F-B5DE-D4119C44F772}" presName="sibTrans" presStyleCnt="0"/>
      <dgm:spPr/>
    </dgm:pt>
    <dgm:pt modelId="{F623C578-AFA5-41B9-A7FA-D3E54B97F4F8}" type="pres">
      <dgm:prSet presAssocID="{B6B65D37-DB34-4007-A4F4-8435D6394B30}" presName="node" presStyleLbl="node1" presStyleIdx="3" presStyleCnt="6">
        <dgm:presLayoutVars>
          <dgm:bulletEnabled val="1"/>
        </dgm:presLayoutVars>
      </dgm:prSet>
      <dgm:spPr/>
    </dgm:pt>
    <dgm:pt modelId="{28575775-A84A-4444-90BD-3E732FEB9C2F}" type="pres">
      <dgm:prSet presAssocID="{9610C37C-1D3B-41FE-B974-50592F2E195C}" presName="sibTrans" presStyleCnt="0"/>
      <dgm:spPr/>
    </dgm:pt>
    <dgm:pt modelId="{72620362-77C4-43A1-80C8-4EC7EC1430C3}" type="pres">
      <dgm:prSet presAssocID="{F06BC2A9-67AA-484F-A52A-0D18011105C5}" presName="node" presStyleLbl="node1" presStyleIdx="4" presStyleCnt="6">
        <dgm:presLayoutVars>
          <dgm:bulletEnabled val="1"/>
        </dgm:presLayoutVars>
      </dgm:prSet>
      <dgm:spPr/>
    </dgm:pt>
    <dgm:pt modelId="{11663827-F14A-478E-91A2-19DCEE0C5852}" type="pres">
      <dgm:prSet presAssocID="{157FA37E-25A9-4987-A984-4B8AD72CA151}" presName="sibTrans" presStyleCnt="0"/>
      <dgm:spPr/>
    </dgm:pt>
    <dgm:pt modelId="{BFD1F021-8B7E-4F32-9975-9774073716FF}" type="pres">
      <dgm:prSet presAssocID="{CAE74DE4-7832-4798-99C7-60060D34E9F9}" presName="node" presStyleLbl="node1" presStyleIdx="5" presStyleCnt="6">
        <dgm:presLayoutVars>
          <dgm:bulletEnabled val="1"/>
        </dgm:presLayoutVars>
      </dgm:prSet>
      <dgm:spPr/>
    </dgm:pt>
  </dgm:ptLst>
  <dgm:cxnLst>
    <dgm:cxn modelId="{A3280810-BB40-48A5-B8C3-A34385D64B55}" srcId="{B5599D44-5208-4242-A66A-421D3851B784}" destId="{F06BC2A9-67AA-484F-A52A-0D18011105C5}" srcOrd="4" destOrd="0" parTransId="{CD4EA86E-8C3D-48E0-92A6-780B75E08553}" sibTransId="{157FA37E-25A9-4987-A984-4B8AD72CA151}"/>
    <dgm:cxn modelId="{1347861F-AAB6-4D63-9080-759F39CA73A2}" srcId="{B5599D44-5208-4242-A66A-421D3851B784}" destId="{D9351E9E-ECF3-4A8D-9C6D-2BC61024F505}" srcOrd="1" destOrd="0" parTransId="{F63080DA-1EBD-4486-B1F6-9A8EA30231A6}" sibTransId="{51E12164-F03C-4A26-A112-A7959448EA1C}"/>
    <dgm:cxn modelId="{35189732-0096-4417-B3C0-B794C84C78CE}" type="presOf" srcId="{B5599D44-5208-4242-A66A-421D3851B784}" destId="{04E4879D-C74C-43EB-9121-AB3301BB658D}" srcOrd="0" destOrd="0" presId="urn:microsoft.com/office/officeart/2005/8/layout/default"/>
    <dgm:cxn modelId="{408B7341-1785-4F74-B6B6-182C5B3417FF}" type="presOf" srcId="{B6B65D37-DB34-4007-A4F4-8435D6394B30}" destId="{F623C578-AFA5-41B9-A7FA-D3E54B97F4F8}" srcOrd="0" destOrd="0" presId="urn:microsoft.com/office/officeart/2005/8/layout/default"/>
    <dgm:cxn modelId="{2522B546-1BA3-4959-A69F-65914AA33F67}" type="presOf" srcId="{CAE74DE4-7832-4798-99C7-60060D34E9F9}" destId="{BFD1F021-8B7E-4F32-9975-9774073716FF}" srcOrd="0" destOrd="0" presId="urn:microsoft.com/office/officeart/2005/8/layout/default"/>
    <dgm:cxn modelId="{B9790677-B1EF-49CB-80AC-1521644AEF11}" type="presOf" srcId="{4C7B3D1B-4CCE-4D14-B300-5D4953797EC9}" destId="{8914B8D6-FCBD-4D00-B7CD-47CA9309493A}" srcOrd="0" destOrd="0" presId="urn:microsoft.com/office/officeart/2005/8/layout/default"/>
    <dgm:cxn modelId="{6F93CA95-F51E-4DE7-9810-FB269FB4DDC5}" srcId="{B5599D44-5208-4242-A66A-421D3851B784}" destId="{CAE74DE4-7832-4798-99C7-60060D34E9F9}" srcOrd="5" destOrd="0" parTransId="{BD45ACF9-6035-43D5-9603-4FA3EDD8D990}" sibTransId="{92DBFB72-AA99-4457-BEB7-7FE20A6A601E}"/>
    <dgm:cxn modelId="{B6D9B2B6-4777-4E60-A342-CC743F96887E}" type="presOf" srcId="{F06BC2A9-67AA-484F-A52A-0D18011105C5}" destId="{72620362-77C4-43A1-80C8-4EC7EC1430C3}" srcOrd="0" destOrd="0" presId="urn:microsoft.com/office/officeart/2005/8/layout/default"/>
    <dgm:cxn modelId="{2BAFBFCB-39CE-4F33-B513-315690DBEE1B}" srcId="{B5599D44-5208-4242-A66A-421D3851B784}" destId="{B6B65D37-DB34-4007-A4F4-8435D6394B30}" srcOrd="3" destOrd="0" parTransId="{3402205A-74F5-4B6E-A928-CD74821A2188}" sibTransId="{9610C37C-1D3B-41FE-B974-50592F2E195C}"/>
    <dgm:cxn modelId="{F35967D4-CC69-4398-A8EB-DB8F14467713}" type="presOf" srcId="{1EB81ACD-C65F-4730-AAD7-DFA2F185557E}" destId="{0A03576B-EF4E-4D38-B6F1-CFCC76451E1A}" srcOrd="0" destOrd="0" presId="urn:microsoft.com/office/officeart/2005/8/layout/default"/>
    <dgm:cxn modelId="{AE63F3E1-3D93-4429-B712-03428D6FE1FA}" type="presOf" srcId="{D9351E9E-ECF3-4A8D-9C6D-2BC61024F505}" destId="{7DD4A22D-879F-49AE-B7EE-86C5BF57DCD4}" srcOrd="0" destOrd="0" presId="urn:microsoft.com/office/officeart/2005/8/layout/default"/>
    <dgm:cxn modelId="{BEA90AEB-4CE2-4C2E-AB74-E2646F8D98AF}" srcId="{B5599D44-5208-4242-A66A-421D3851B784}" destId="{4C7B3D1B-4CCE-4D14-B300-5D4953797EC9}" srcOrd="2" destOrd="0" parTransId="{717D5FC9-36BD-4F81-94F3-AE588C174E71}" sibTransId="{210706A0-B6F0-443F-B5DE-D4119C44F772}"/>
    <dgm:cxn modelId="{13772CFA-D0A9-449A-8504-B0EB8D436754}" srcId="{B5599D44-5208-4242-A66A-421D3851B784}" destId="{1EB81ACD-C65F-4730-AAD7-DFA2F185557E}" srcOrd="0" destOrd="0" parTransId="{FCC834D3-1D47-4C3E-8E79-843182B0BD3D}" sibTransId="{C1FAF0FA-05BA-424F-9DA4-8E2B846C84AF}"/>
    <dgm:cxn modelId="{C1235D71-BF52-4FCF-A8F7-C6E16F6A433B}" type="presParOf" srcId="{04E4879D-C74C-43EB-9121-AB3301BB658D}" destId="{0A03576B-EF4E-4D38-B6F1-CFCC76451E1A}" srcOrd="0" destOrd="0" presId="urn:microsoft.com/office/officeart/2005/8/layout/default"/>
    <dgm:cxn modelId="{91E25914-4AD0-4E98-892E-CFBD27444A16}" type="presParOf" srcId="{04E4879D-C74C-43EB-9121-AB3301BB658D}" destId="{85E60194-D6F0-419E-94B5-845A2D6CDB76}" srcOrd="1" destOrd="0" presId="urn:microsoft.com/office/officeart/2005/8/layout/default"/>
    <dgm:cxn modelId="{A79E67A6-E1FD-44A9-8FAF-87FBF164DCD6}" type="presParOf" srcId="{04E4879D-C74C-43EB-9121-AB3301BB658D}" destId="{7DD4A22D-879F-49AE-B7EE-86C5BF57DCD4}" srcOrd="2" destOrd="0" presId="urn:microsoft.com/office/officeart/2005/8/layout/default"/>
    <dgm:cxn modelId="{5AEBC83A-DD43-432A-9364-FBFABF474E39}" type="presParOf" srcId="{04E4879D-C74C-43EB-9121-AB3301BB658D}" destId="{3C0A8423-D84E-4B67-966C-98FF985B9FA0}" srcOrd="3" destOrd="0" presId="urn:microsoft.com/office/officeart/2005/8/layout/default"/>
    <dgm:cxn modelId="{D7A30EFB-05ED-4130-B4AD-1A426AB03EB2}" type="presParOf" srcId="{04E4879D-C74C-43EB-9121-AB3301BB658D}" destId="{8914B8D6-FCBD-4D00-B7CD-47CA9309493A}" srcOrd="4" destOrd="0" presId="urn:microsoft.com/office/officeart/2005/8/layout/default"/>
    <dgm:cxn modelId="{5EF0A234-9E99-4731-AA32-3B2907C3B3E5}" type="presParOf" srcId="{04E4879D-C74C-43EB-9121-AB3301BB658D}" destId="{1FF16C17-E0AC-46A6-8248-C557E878F9B0}" srcOrd="5" destOrd="0" presId="urn:microsoft.com/office/officeart/2005/8/layout/default"/>
    <dgm:cxn modelId="{55718DA8-2650-4987-A318-08C18751CC73}" type="presParOf" srcId="{04E4879D-C74C-43EB-9121-AB3301BB658D}" destId="{F623C578-AFA5-41B9-A7FA-D3E54B97F4F8}" srcOrd="6" destOrd="0" presId="urn:microsoft.com/office/officeart/2005/8/layout/default"/>
    <dgm:cxn modelId="{A27A8650-F193-40B0-97D2-230C6FFDF753}" type="presParOf" srcId="{04E4879D-C74C-43EB-9121-AB3301BB658D}" destId="{28575775-A84A-4444-90BD-3E732FEB9C2F}" srcOrd="7" destOrd="0" presId="urn:microsoft.com/office/officeart/2005/8/layout/default"/>
    <dgm:cxn modelId="{7FAD953E-1340-4C17-94F2-ACE6F2E0220A}" type="presParOf" srcId="{04E4879D-C74C-43EB-9121-AB3301BB658D}" destId="{72620362-77C4-43A1-80C8-4EC7EC1430C3}" srcOrd="8" destOrd="0" presId="urn:microsoft.com/office/officeart/2005/8/layout/default"/>
    <dgm:cxn modelId="{9886A146-3E42-4951-97E7-6A4079EC9E11}" type="presParOf" srcId="{04E4879D-C74C-43EB-9121-AB3301BB658D}" destId="{11663827-F14A-478E-91A2-19DCEE0C5852}" srcOrd="9" destOrd="0" presId="urn:microsoft.com/office/officeart/2005/8/layout/default"/>
    <dgm:cxn modelId="{0B6BF123-433D-494F-8B78-05A5B3A6E009}" type="presParOf" srcId="{04E4879D-C74C-43EB-9121-AB3301BB658D}" destId="{BFD1F021-8B7E-4F32-9975-9774073716FF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9C0D46D-A13B-4B66-8826-57F7E9FE4C0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707FDAE-F87A-4FED-A826-B2C05C6C16F9}">
      <dgm:prSet/>
      <dgm:spPr/>
      <dgm:t>
        <a:bodyPr/>
        <a:lstStyle/>
        <a:p>
          <a:r>
            <a:rPr lang="en-US" b="0" i="0" dirty="0"/>
            <a:t>• </a:t>
          </a:r>
          <a:r>
            <a:rPr lang="en-US" b="0" i="0" dirty="0" err="1"/>
            <a:t>Ръководител</a:t>
          </a:r>
          <a:r>
            <a:rPr lang="en-US" b="0" i="0" dirty="0"/>
            <a:t> – </a:t>
          </a:r>
          <a:r>
            <a:rPr lang="en-US" b="0" i="0" dirty="0" err="1"/>
            <a:t>архитектура</a:t>
          </a:r>
          <a:r>
            <a:rPr lang="en-US" b="0" i="0" dirty="0"/>
            <a:t>, </a:t>
          </a:r>
          <a:r>
            <a:rPr lang="en-US" b="0" i="0" dirty="0" err="1"/>
            <a:t>планиране</a:t>
          </a:r>
          <a:r>
            <a:rPr lang="en-US" b="0" i="0" dirty="0"/>
            <a:t>, </a:t>
          </a:r>
          <a:r>
            <a:rPr lang="en-US" b="0" i="0" dirty="0" err="1"/>
            <a:t>интеграция</a:t>
          </a:r>
          <a:r>
            <a:rPr lang="bg-BG" b="0" i="0" dirty="0"/>
            <a:t> (Александра Попова)</a:t>
          </a:r>
          <a:endParaRPr lang="en-US" dirty="0"/>
        </a:p>
      </dgm:t>
    </dgm:pt>
    <dgm:pt modelId="{4A47BF4C-67D9-45A8-91C9-50322997F84D}" type="parTrans" cxnId="{EB1FC7BB-F2CF-4CD0-B399-F0C3A837855F}">
      <dgm:prSet/>
      <dgm:spPr/>
      <dgm:t>
        <a:bodyPr/>
        <a:lstStyle/>
        <a:p>
          <a:endParaRPr lang="en-US"/>
        </a:p>
      </dgm:t>
    </dgm:pt>
    <dgm:pt modelId="{2FEA983A-6C70-41BD-99A0-C95A5FBEF7C9}" type="sibTrans" cxnId="{EB1FC7BB-F2CF-4CD0-B399-F0C3A837855F}">
      <dgm:prSet/>
      <dgm:spPr/>
      <dgm:t>
        <a:bodyPr/>
        <a:lstStyle/>
        <a:p>
          <a:endParaRPr lang="en-US"/>
        </a:p>
      </dgm:t>
    </dgm:pt>
    <dgm:pt modelId="{9C7D6B4C-F440-4474-92C1-2AAAF3976FB9}">
      <dgm:prSet/>
      <dgm:spPr/>
      <dgm:t>
        <a:bodyPr/>
        <a:lstStyle/>
        <a:p>
          <a:r>
            <a:rPr lang="en-US" b="0" i="0" dirty="0"/>
            <a:t>• </a:t>
          </a:r>
          <a:r>
            <a:rPr lang="en-US" b="0" i="0" dirty="0" err="1"/>
            <a:t>Хардуерен</a:t>
          </a:r>
          <a:r>
            <a:rPr lang="en-US" b="0" i="0" dirty="0"/>
            <a:t> </a:t>
          </a:r>
          <a:r>
            <a:rPr lang="en-US" b="0" i="0" dirty="0" err="1"/>
            <a:t>проектант</a:t>
          </a:r>
          <a:r>
            <a:rPr lang="en-US" b="0" i="0" dirty="0"/>
            <a:t> – </a:t>
          </a:r>
          <a:r>
            <a:rPr lang="en-US" b="0" i="0" dirty="0" err="1"/>
            <a:t>схема</a:t>
          </a:r>
          <a:r>
            <a:rPr lang="en-US" b="0" i="0" dirty="0"/>
            <a:t> и </a:t>
          </a:r>
          <a:r>
            <a:rPr lang="en-US" b="0" i="0" dirty="0" err="1"/>
            <a:t>компоненти</a:t>
          </a:r>
          <a:r>
            <a:rPr lang="bg-BG" b="0" i="0" dirty="0"/>
            <a:t> (Велизара Василева)</a:t>
          </a:r>
          <a:endParaRPr lang="en-US" dirty="0"/>
        </a:p>
      </dgm:t>
    </dgm:pt>
    <dgm:pt modelId="{A95BFC37-8F35-4498-AFF4-3F8884A92AC2}" type="parTrans" cxnId="{F395C3FF-448F-4422-BC0C-A71439C37D9D}">
      <dgm:prSet/>
      <dgm:spPr/>
      <dgm:t>
        <a:bodyPr/>
        <a:lstStyle/>
        <a:p>
          <a:endParaRPr lang="en-US"/>
        </a:p>
      </dgm:t>
    </dgm:pt>
    <dgm:pt modelId="{46DDAD7E-178C-46AD-89F1-82DE8324007F}" type="sibTrans" cxnId="{F395C3FF-448F-4422-BC0C-A71439C37D9D}">
      <dgm:prSet/>
      <dgm:spPr/>
      <dgm:t>
        <a:bodyPr/>
        <a:lstStyle/>
        <a:p>
          <a:endParaRPr lang="en-US"/>
        </a:p>
      </dgm:t>
    </dgm:pt>
    <dgm:pt modelId="{C46EA595-8ABE-40E1-9E5C-09917E606D6A}">
      <dgm:prSet/>
      <dgm:spPr/>
      <dgm:t>
        <a:bodyPr/>
        <a:lstStyle/>
        <a:p>
          <a:r>
            <a:rPr lang="en-US" b="0" i="0" dirty="0"/>
            <a:t>• </a:t>
          </a:r>
          <a:r>
            <a:rPr lang="en-US" b="0" i="0" dirty="0" err="1"/>
            <a:t>Софтуерен</a:t>
          </a:r>
          <a:r>
            <a:rPr lang="en-US" b="0" i="0" dirty="0"/>
            <a:t> </a:t>
          </a:r>
          <a:r>
            <a:rPr lang="en-US" b="0" i="0" dirty="0" err="1"/>
            <a:t>разработчик</a:t>
          </a:r>
          <a:r>
            <a:rPr lang="en-US" b="0" i="0" dirty="0"/>
            <a:t> – </a:t>
          </a:r>
          <a:r>
            <a:rPr lang="en-US" b="0" i="0" dirty="0" err="1"/>
            <a:t>код</a:t>
          </a:r>
          <a:r>
            <a:rPr lang="en-US" b="0" i="0" dirty="0"/>
            <a:t> и </a:t>
          </a:r>
          <a:r>
            <a:rPr lang="en-US" b="0" i="0" dirty="0" err="1"/>
            <a:t>алгоритми</a:t>
          </a:r>
          <a:r>
            <a:rPr lang="bg-BG" b="0" i="0" dirty="0"/>
            <a:t> (Теодор Тумбалов)</a:t>
          </a:r>
          <a:endParaRPr lang="en-US" dirty="0"/>
        </a:p>
      </dgm:t>
    </dgm:pt>
    <dgm:pt modelId="{0986A69D-6A60-450C-B506-A2E483DDD10F}" type="parTrans" cxnId="{A70CCE72-34CE-4990-A3E2-7053735F4C86}">
      <dgm:prSet/>
      <dgm:spPr/>
      <dgm:t>
        <a:bodyPr/>
        <a:lstStyle/>
        <a:p>
          <a:endParaRPr lang="en-US"/>
        </a:p>
      </dgm:t>
    </dgm:pt>
    <dgm:pt modelId="{E5D39C85-8768-4088-A2AF-2D17381F9957}" type="sibTrans" cxnId="{A70CCE72-34CE-4990-A3E2-7053735F4C86}">
      <dgm:prSet/>
      <dgm:spPr/>
      <dgm:t>
        <a:bodyPr/>
        <a:lstStyle/>
        <a:p>
          <a:endParaRPr lang="en-US"/>
        </a:p>
      </dgm:t>
    </dgm:pt>
    <dgm:pt modelId="{8B1A6A84-DDD0-43AC-801A-F0C04DB1C0DE}">
      <dgm:prSet/>
      <dgm:spPr/>
      <dgm:t>
        <a:bodyPr/>
        <a:lstStyle/>
        <a:p>
          <a:r>
            <a:rPr lang="en-US" b="0" i="0" dirty="0"/>
            <a:t>• </a:t>
          </a:r>
          <a:r>
            <a:rPr lang="en-US" b="0" i="0" dirty="0" err="1"/>
            <a:t>Интегратор</a:t>
          </a:r>
          <a:r>
            <a:rPr lang="en-US" b="0" i="0" dirty="0"/>
            <a:t> – </a:t>
          </a:r>
          <a:r>
            <a:rPr lang="en-US" b="0" i="0" dirty="0" err="1"/>
            <a:t>тестове</a:t>
          </a:r>
          <a:r>
            <a:rPr lang="en-US" b="0" i="0" dirty="0"/>
            <a:t> и </a:t>
          </a:r>
          <a:r>
            <a:rPr lang="en-US" b="0" i="0" dirty="0" err="1"/>
            <a:t>интеграция</a:t>
          </a:r>
          <a:r>
            <a:rPr lang="bg-BG" b="0" i="0" dirty="0"/>
            <a:t> (Станислав Петров)</a:t>
          </a:r>
          <a:endParaRPr lang="en-US" dirty="0"/>
        </a:p>
      </dgm:t>
    </dgm:pt>
    <dgm:pt modelId="{70283C13-2752-4B91-8C3D-78193DEEF62A}" type="parTrans" cxnId="{BE3AC280-1B6A-4B29-A9CC-9CA99B04723A}">
      <dgm:prSet/>
      <dgm:spPr/>
      <dgm:t>
        <a:bodyPr/>
        <a:lstStyle/>
        <a:p>
          <a:endParaRPr lang="en-US"/>
        </a:p>
      </dgm:t>
    </dgm:pt>
    <dgm:pt modelId="{B316631A-6238-45A1-B335-5C3473468471}" type="sibTrans" cxnId="{BE3AC280-1B6A-4B29-A9CC-9CA99B04723A}">
      <dgm:prSet/>
      <dgm:spPr/>
      <dgm:t>
        <a:bodyPr/>
        <a:lstStyle/>
        <a:p>
          <a:endParaRPr lang="en-US"/>
        </a:p>
      </dgm:t>
    </dgm:pt>
    <dgm:pt modelId="{651AC1EF-B49B-46EF-B2A7-04CC2D66AEFF}" type="pres">
      <dgm:prSet presAssocID="{19C0D46D-A13B-4B66-8826-57F7E9FE4C03}" presName="linear" presStyleCnt="0">
        <dgm:presLayoutVars>
          <dgm:animLvl val="lvl"/>
          <dgm:resizeHandles val="exact"/>
        </dgm:presLayoutVars>
      </dgm:prSet>
      <dgm:spPr/>
    </dgm:pt>
    <dgm:pt modelId="{985A84F4-8F84-4407-8AFA-60D30154F086}" type="pres">
      <dgm:prSet presAssocID="{F707FDAE-F87A-4FED-A826-B2C05C6C16F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030C099-8E5F-46DB-B7CF-A7DF050F7C71}" type="pres">
      <dgm:prSet presAssocID="{2FEA983A-6C70-41BD-99A0-C95A5FBEF7C9}" presName="spacer" presStyleCnt="0"/>
      <dgm:spPr/>
    </dgm:pt>
    <dgm:pt modelId="{24E6C4B3-1691-41ED-ACD8-462FB982704A}" type="pres">
      <dgm:prSet presAssocID="{9C7D6B4C-F440-4474-92C1-2AAAF3976FB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647776A-367F-4B33-B76C-2C4104F4F683}" type="pres">
      <dgm:prSet presAssocID="{46DDAD7E-178C-46AD-89F1-82DE8324007F}" presName="spacer" presStyleCnt="0"/>
      <dgm:spPr/>
    </dgm:pt>
    <dgm:pt modelId="{D0B74264-531B-4571-BC0B-DD5516DA5C67}" type="pres">
      <dgm:prSet presAssocID="{C46EA595-8ABE-40E1-9E5C-09917E606D6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7E8F62D-2E7F-45E9-A467-FDCC3AED09CB}" type="pres">
      <dgm:prSet presAssocID="{E5D39C85-8768-4088-A2AF-2D17381F9957}" presName="spacer" presStyleCnt="0"/>
      <dgm:spPr/>
    </dgm:pt>
    <dgm:pt modelId="{9FC871A8-1DED-4C53-80A3-B7EFED70E879}" type="pres">
      <dgm:prSet presAssocID="{8B1A6A84-DDD0-43AC-801A-F0C04DB1C0D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26F9A05-5D55-4066-971D-82C6BFEAAC14}" type="presOf" srcId="{9C7D6B4C-F440-4474-92C1-2AAAF3976FB9}" destId="{24E6C4B3-1691-41ED-ACD8-462FB982704A}" srcOrd="0" destOrd="0" presId="urn:microsoft.com/office/officeart/2005/8/layout/vList2"/>
    <dgm:cxn modelId="{7267C121-536D-478E-ABEE-934B31D78910}" type="presOf" srcId="{19C0D46D-A13B-4B66-8826-57F7E9FE4C03}" destId="{651AC1EF-B49B-46EF-B2A7-04CC2D66AEFF}" srcOrd="0" destOrd="0" presId="urn:microsoft.com/office/officeart/2005/8/layout/vList2"/>
    <dgm:cxn modelId="{969A9D44-C3C7-4162-9DDE-8223B42AFE03}" type="presOf" srcId="{C46EA595-8ABE-40E1-9E5C-09917E606D6A}" destId="{D0B74264-531B-4571-BC0B-DD5516DA5C67}" srcOrd="0" destOrd="0" presId="urn:microsoft.com/office/officeart/2005/8/layout/vList2"/>
    <dgm:cxn modelId="{E8ADD244-CC01-40B9-99B6-73C31D6012A5}" type="presOf" srcId="{F707FDAE-F87A-4FED-A826-B2C05C6C16F9}" destId="{985A84F4-8F84-4407-8AFA-60D30154F086}" srcOrd="0" destOrd="0" presId="urn:microsoft.com/office/officeart/2005/8/layout/vList2"/>
    <dgm:cxn modelId="{A70CCE72-34CE-4990-A3E2-7053735F4C86}" srcId="{19C0D46D-A13B-4B66-8826-57F7E9FE4C03}" destId="{C46EA595-8ABE-40E1-9E5C-09917E606D6A}" srcOrd="2" destOrd="0" parTransId="{0986A69D-6A60-450C-B506-A2E483DDD10F}" sibTransId="{E5D39C85-8768-4088-A2AF-2D17381F9957}"/>
    <dgm:cxn modelId="{BE3AC280-1B6A-4B29-A9CC-9CA99B04723A}" srcId="{19C0D46D-A13B-4B66-8826-57F7E9FE4C03}" destId="{8B1A6A84-DDD0-43AC-801A-F0C04DB1C0DE}" srcOrd="3" destOrd="0" parTransId="{70283C13-2752-4B91-8C3D-78193DEEF62A}" sibTransId="{B316631A-6238-45A1-B335-5C3473468471}"/>
    <dgm:cxn modelId="{963AB496-0C7D-42A7-B0C8-EA3263BDB1B0}" type="presOf" srcId="{8B1A6A84-DDD0-43AC-801A-F0C04DB1C0DE}" destId="{9FC871A8-1DED-4C53-80A3-B7EFED70E879}" srcOrd="0" destOrd="0" presId="urn:microsoft.com/office/officeart/2005/8/layout/vList2"/>
    <dgm:cxn modelId="{EB1FC7BB-F2CF-4CD0-B399-F0C3A837855F}" srcId="{19C0D46D-A13B-4B66-8826-57F7E9FE4C03}" destId="{F707FDAE-F87A-4FED-A826-B2C05C6C16F9}" srcOrd="0" destOrd="0" parTransId="{4A47BF4C-67D9-45A8-91C9-50322997F84D}" sibTransId="{2FEA983A-6C70-41BD-99A0-C95A5FBEF7C9}"/>
    <dgm:cxn modelId="{F395C3FF-448F-4422-BC0C-A71439C37D9D}" srcId="{19C0D46D-A13B-4B66-8826-57F7E9FE4C03}" destId="{9C7D6B4C-F440-4474-92C1-2AAAF3976FB9}" srcOrd="1" destOrd="0" parTransId="{A95BFC37-8F35-4498-AFF4-3F8884A92AC2}" sibTransId="{46DDAD7E-178C-46AD-89F1-82DE8324007F}"/>
    <dgm:cxn modelId="{BA27D0C0-FE30-4CC3-8C16-9D5953869126}" type="presParOf" srcId="{651AC1EF-B49B-46EF-B2A7-04CC2D66AEFF}" destId="{985A84F4-8F84-4407-8AFA-60D30154F086}" srcOrd="0" destOrd="0" presId="urn:microsoft.com/office/officeart/2005/8/layout/vList2"/>
    <dgm:cxn modelId="{E0C9AC5B-FCF5-44FC-8330-E3545E276194}" type="presParOf" srcId="{651AC1EF-B49B-46EF-B2A7-04CC2D66AEFF}" destId="{0030C099-8E5F-46DB-B7CF-A7DF050F7C71}" srcOrd="1" destOrd="0" presId="urn:microsoft.com/office/officeart/2005/8/layout/vList2"/>
    <dgm:cxn modelId="{498E375F-0EBE-425B-9B0B-BE0BA76BFBE2}" type="presParOf" srcId="{651AC1EF-B49B-46EF-B2A7-04CC2D66AEFF}" destId="{24E6C4B3-1691-41ED-ACD8-462FB982704A}" srcOrd="2" destOrd="0" presId="urn:microsoft.com/office/officeart/2005/8/layout/vList2"/>
    <dgm:cxn modelId="{8510EA51-1C9C-4012-A304-0DDCF8A6092D}" type="presParOf" srcId="{651AC1EF-B49B-46EF-B2A7-04CC2D66AEFF}" destId="{4647776A-367F-4B33-B76C-2C4104F4F683}" srcOrd="3" destOrd="0" presId="urn:microsoft.com/office/officeart/2005/8/layout/vList2"/>
    <dgm:cxn modelId="{4C88299B-72FD-4937-BDC7-34D0E1D2ADB7}" type="presParOf" srcId="{651AC1EF-B49B-46EF-B2A7-04CC2D66AEFF}" destId="{D0B74264-531B-4571-BC0B-DD5516DA5C67}" srcOrd="4" destOrd="0" presId="urn:microsoft.com/office/officeart/2005/8/layout/vList2"/>
    <dgm:cxn modelId="{834C43D4-725F-4B4A-956A-910854AAF664}" type="presParOf" srcId="{651AC1EF-B49B-46EF-B2A7-04CC2D66AEFF}" destId="{07E8F62D-2E7F-45E9-A467-FDCC3AED09CB}" srcOrd="5" destOrd="0" presId="urn:microsoft.com/office/officeart/2005/8/layout/vList2"/>
    <dgm:cxn modelId="{F0E68DE8-02FA-4542-8335-129EB684B5E4}" type="presParOf" srcId="{651AC1EF-B49B-46EF-B2A7-04CC2D66AEFF}" destId="{9FC871A8-1DED-4C53-80A3-B7EFED70E87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03576B-EF4E-4D38-B6F1-CFCC76451E1A}">
      <dsp:nvSpPr>
        <dsp:cNvPr id="0" name=""/>
        <dsp:cNvSpPr/>
      </dsp:nvSpPr>
      <dsp:spPr>
        <a:xfrm>
          <a:off x="0" y="244974"/>
          <a:ext cx="2255949" cy="1353569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• Управление на автомобилно огледало по X и Y</a:t>
          </a:r>
          <a:endParaRPr lang="en-US" sz="1900" kern="1200"/>
        </a:p>
      </dsp:txBody>
      <dsp:txXfrm>
        <a:off x="0" y="244974"/>
        <a:ext cx="2255949" cy="1353569"/>
      </dsp:txXfrm>
    </dsp:sp>
    <dsp:sp modelId="{7DD4A22D-879F-49AE-B7EE-86C5BF57DCD4}">
      <dsp:nvSpPr>
        <dsp:cNvPr id="0" name=""/>
        <dsp:cNvSpPr/>
      </dsp:nvSpPr>
      <dsp:spPr>
        <a:xfrm>
          <a:off x="2481543" y="244974"/>
          <a:ext cx="2255949" cy="1353569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• PWM управление на задвижванията</a:t>
          </a:r>
          <a:endParaRPr lang="en-US" sz="1900" kern="1200"/>
        </a:p>
      </dsp:txBody>
      <dsp:txXfrm>
        <a:off x="2481543" y="244974"/>
        <a:ext cx="2255949" cy="1353569"/>
      </dsp:txXfrm>
    </dsp:sp>
    <dsp:sp modelId="{8914B8D6-FCBD-4D00-B7CD-47CA9309493A}">
      <dsp:nvSpPr>
        <dsp:cNvPr id="0" name=""/>
        <dsp:cNvSpPr/>
      </dsp:nvSpPr>
      <dsp:spPr>
        <a:xfrm>
          <a:off x="4963087" y="244974"/>
          <a:ext cx="2255949" cy="1353569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• Обратна връзка за позиция и ток</a:t>
          </a:r>
          <a:endParaRPr lang="en-US" sz="1900" kern="1200"/>
        </a:p>
      </dsp:txBody>
      <dsp:txXfrm>
        <a:off x="4963087" y="244974"/>
        <a:ext cx="2255949" cy="1353569"/>
      </dsp:txXfrm>
    </dsp:sp>
    <dsp:sp modelId="{F623C578-AFA5-41B9-A7FA-D3E54B97F4F8}">
      <dsp:nvSpPr>
        <dsp:cNvPr id="0" name=""/>
        <dsp:cNvSpPr/>
      </dsp:nvSpPr>
      <dsp:spPr>
        <a:xfrm>
          <a:off x="0" y="1824138"/>
          <a:ext cx="2255949" cy="1353569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• Управление на мигач</a:t>
          </a:r>
          <a:endParaRPr lang="en-US" sz="1900" kern="1200"/>
        </a:p>
      </dsp:txBody>
      <dsp:txXfrm>
        <a:off x="0" y="1824138"/>
        <a:ext cx="2255949" cy="1353569"/>
      </dsp:txXfrm>
    </dsp:sp>
    <dsp:sp modelId="{72620362-77C4-43A1-80C8-4EC7EC1430C3}">
      <dsp:nvSpPr>
        <dsp:cNvPr id="0" name=""/>
        <dsp:cNvSpPr/>
      </dsp:nvSpPr>
      <dsp:spPr>
        <a:xfrm>
          <a:off x="2481543" y="1824138"/>
          <a:ext cx="2255949" cy="1353569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• Комуникация с PC (USB CDC)</a:t>
          </a:r>
          <a:endParaRPr lang="en-US" sz="1900" kern="1200"/>
        </a:p>
      </dsp:txBody>
      <dsp:txXfrm>
        <a:off x="2481543" y="1824138"/>
        <a:ext cx="2255949" cy="1353569"/>
      </dsp:txXfrm>
    </dsp:sp>
    <dsp:sp modelId="{BFD1F021-8B7E-4F32-9975-9774073716FF}">
      <dsp:nvSpPr>
        <dsp:cNvPr id="0" name=""/>
        <dsp:cNvSpPr/>
      </dsp:nvSpPr>
      <dsp:spPr>
        <a:xfrm>
          <a:off x="4963087" y="1824138"/>
          <a:ext cx="2255949" cy="1353569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• Диагностика</a:t>
          </a:r>
          <a:endParaRPr lang="en-US" sz="1900" kern="1200"/>
        </a:p>
      </dsp:txBody>
      <dsp:txXfrm>
        <a:off x="4963087" y="1824138"/>
        <a:ext cx="2255949" cy="135356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5A84F4-8F84-4407-8AFA-60D30154F086}">
      <dsp:nvSpPr>
        <dsp:cNvPr id="0" name=""/>
        <dsp:cNvSpPr/>
      </dsp:nvSpPr>
      <dsp:spPr>
        <a:xfrm>
          <a:off x="0" y="57263"/>
          <a:ext cx="4793456" cy="12355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dirty="0"/>
            <a:t>• </a:t>
          </a:r>
          <a:r>
            <a:rPr lang="en-US" sz="2200" b="0" i="0" kern="1200" dirty="0" err="1"/>
            <a:t>Ръководител</a:t>
          </a:r>
          <a:r>
            <a:rPr lang="en-US" sz="2200" b="0" i="0" kern="1200" dirty="0"/>
            <a:t> – </a:t>
          </a:r>
          <a:r>
            <a:rPr lang="en-US" sz="2200" b="0" i="0" kern="1200" dirty="0" err="1"/>
            <a:t>архитектура</a:t>
          </a:r>
          <a:r>
            <a:rPr lang="en-US" sz="2200" b="0" i="0" kern="1200" dirty="0"/>
            <a:t>, </a:t>
          </a:r>
          <a:r>
            <a:rPr lang="en-US" sz="2200" b="0" i="0" kern="1200" dirty="0" err="1"/>
            <a:t>планиране</a:t>
          </a:r>
          <a:r>
            <a:rPr lang="en-US" sz="2200" b="0" i="0" kern="1200" dirty="0"/>
            <a:t>, </a:t>
          </a:r>
          <a:r>
            <a:rPr lang="en-US" sz="2200" b="0" i="0" kern="1200" dirty="0" err="1"/>
            <a:t>интеграция</a:t>
          </a:r>
          <a:r>
            <a:rPr lang="bg-BG" sz="2200" b="0" i="0" kern="1200" dirty="0"/>
            <a:t> (Александра Попова)</a:t>
          </a:r>
          <a:endParaRPr lang="en-US" sz="2200" kern="1200" dirty="0"/>
        </a:p>
      </dsp:txBody>
      <dsp:txXfrm>
        <a:off x="60313" y="117576"/>
        <a:ext cx="4672830" cy="1114894"/>
      </dsp:txXfrm>
    </dsp:sp>
    <dsp:sp modelId="{24E6C4B3-1691-41ED-ACD8-462FB982704A}">
      <dsp:nvSpPr>
        <dsp:cNvPr id="0" name=""/>
        <dsp:cNvSpPr/>
      </dsp:nvSpPr>
      <dsp:spPr>
        <a:xfrm>
          <a:off x="0" y="1356143"/>
          <a:ext cx="4793456" cy="1235520"/>
        </a:xfrm>
        <a:prstGeom prst="roundRect">
          <a:avLst/>
        </a:prstGeom>
        <a:solidFill>
          <a:schemeClr val="accent2">
            <a:hueOff val="-6588574"/>
            <a:satOff val="30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dirty="0"/>
            <a:t>• </a:t>
          </a:r>
          <a:r>
            <a:rPr lang="en-US" sz="2200" b="0" i="0" kern="1200" dirty="0" err="1"/>
            <a:t>Хардуерен</a:t>
          </a:r>
          <a:r>
            <a:rPr lang="en-US" sz="2200" b="0" i="0" kern="1200" dirty="0"/>
            <a:t> </a:t>
          </a:r>
          <a:r>
            <a:rPr lang="en-US" sz="2200" b="0" i="0" kern="1200" dirty="0" err="1"/>
            <a:t>проектант</a:t>
          </a:r>
          <a:r>
            <a:rPr lang="en-US" sz="2200" b="0" i="0" kern="1200" dirty="0"/>
            <a:t> – </a:t>
          </a:r>
          <a:r>
            <a:rPr lang="en-US" sz="2200" b="0" i="0" kern="1200" dirty="0" err="1"/>
            <a:t>схема</a:t>
          </a:r>
          <a:r>
            <a:rPr lang="en-US" sz="2200" b="0" i="0" kern="1200" dirty="0"/>
            <a:t> и </a:t>
          </a:r>
          <a:r>
            <a:rPr lang="en-US" sz="2200" b="0" i="0" kern="1200" dirty="0" err="1"/>
            <a:t>компоненти</a:t>
          </a:r>
          <a:r>
            <a:rPr lang="bg-BG" sz="2200" b="0" i="0" kern="1200" dirty="0"/>
            <a:t> (Велизара Василева)</a:t>
          </a:r>
          <a:endParaRPr lang="en-US" sz="2200" kern="1200" dirty="0"/>
        </a:p>
      </dsp:txBody>
      <dsp:txXfrm>
        <a:off x="60313" y="1416456"/>
        <a:ext cx="4672830" cy="1114894"/>
      </dsp:txXfrm>
    </dsp:sp>
    <dsp:sp modelId="{D0B74264-531B-4571-BC0B-DD5516DA5C67}">
      <dsp:nvSpPr>
        <dsp:cNvPr id="0" name=""/>
        <dsp:cNvSpPr/>
      </dsp:nvSpPr>
      <dsp:spPr>
        <a:xfrm>
          <a:off x="0" y="2655023"/>
          <a:ext cx="4793456" cy="1235520"/>
        </a:xfrm>
        <a:prstGeom prst="roundRect">
          <a:avLst/>
        </a:prstGeom>
        <a:solidFill>
          <a:schemeClr val="accent2">
            <a:hueOff val="-13177148"/>
            <a:satOff val="60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dirty="0"/>
            <a:t>• </a:t>
          </a:r>
          <a:r>
            <a:rPr lang="en-US" sz="2200" b="0" i="0" kern="1200" dirty="0" err="1"/>
            <a:t>Софтуерен</a:t>
          </a:r>
          <a:r>
            <a:rPr lang="en-US" sz="2200" b="0" i="0" kern="1200" dirty="0"/>
            <a:t> </a:t>
          </a:r>
          <a:r>
            <a:rPr lang="en-US" sz="2200" b="0" i="0" kern="1200" dirty="0" err="1"/>
            <a:t>разработчик</a:t>
          </a:r>
          <a:r>
            <a:rPr lang="en-US" sz="2200" b="0" i="0" kern="1200" dirty="0"/>
            <a:t> – </a:t>
          </a:r>
          <a:r>
            <a:rPr lang="en-US" sz="2200" b="0" i="0" kern="1200" dirty="0" err="1"/>
            <a:t>код</a:t>
          </a:r>
          <a:r>
            <a:rPr lang="en-US" sz="2200" b="0" i="0" kern="1200" dirty="0"/>
            <a:t> и </a:t>
          </a:r>
          <a:r>
            <a:rPr lang="en-US" sz="2200" b="0" i="0" kern="1200" dirty="0" err="1"/>
            <a:t>алгоритми</a:t>
          </a:r>
          <a:r>
            <a:rPr lang="bg-BG" sz="2200" b="0" i="0" kern="1200" dirty="0"/>
            <a:t> (Теодор Тумбалов)</a:t>
          </a:r>
          <a:endParaRPr lang="en-US" sz="2200" kern="1200" dirty="0"/>
        </a:p>
      </dsp:txBody>
      <dsp:txXfrm>
        <a:off x="60313" y="2715336"/>
        <a:ext cx="4672830" cy="1114894"/>
      </dsp:txXfrm>
    </dsp:sp>
    <dsp:sp modelId="{9FC871A8-1DED-4C53-80A3-B7EFED70E879}">
      <dsp:nvSpPr>
        <dsp:cNvPr id="0" name=""/>
        <dsp:cNvSpPr/>
      </dsp:nvSpPr>
      <dsp:spPr>
        <a:xfrm>
          <a:off x="0" y="3953903"/>
          <a:ext cx="4793456" cy="1235520"/>
        </a:xfrm>
        <a:prstGeom prst="roundRect">
          <a:avLst/>
        </a:prstGeom>
        <a:solidFill>
          <a:schemeClr val="accent2">
            <a:hueOff val="-19765721"/>
            <a:satOff val="90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dirty="0"/>
            <a:t>• </a:t>
          </a:r>
          <a:r>
            <a:rPr lang="en-US" sz="2200" b="0" i="0" kern="1200" dirty="0" err="1"/>
            <a:t>Интегратор</a:t>
          </a:r>
          <a:r>
            <a:rPr lang="en-US" sz="2200" b="0" i="0" kern="1200" dirty="0"/>
            <a:t> – </a:t>
          </a:r>
          <a:r>
            <a:rPr lang="en-US" sz="2200" b="0" i="0" kern="1200" dirty="0" err="1"/>
            <a:t>тестове</a:t>
          </a:r>
          <a:r>
            <a:rPr lang="en-US" sz="2200" b="0" i="0" kern="1200" dirty="0"/>
            <a:t> и </a:t>
          </a:r>
          <a:r>
            <a:rPr lang="en-US" sz="2200" b="0" i="0" kern="1200" dirty="0" err="1"/>
            <a:t>интеграция</a:t>
          </a:r>
          <a:r>
            <a:rPr lang="bg-BG" sz="2200" b="0" i="0" kern="1200" dirty="0"/>
            <a:t> (Станислав Петров)</a:t>
          </a:r>
          <a:endParaRPr lang="en-US" sz="2200" kern="1200" dirty="0"/>
        </a:p>
      </dsp:txBody>
      <dsp:txXfrm>
        <a:off x="60313" y="4014216"/>
        <a:ext cx="4672830" cy="11148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Заглавен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633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000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лавка разд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824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е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075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395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Само 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419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разе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bg-BG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302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Съдържание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026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bg-BG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498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Панорамна 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bg-BG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665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лавие и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0703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0323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ичка с им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6510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коло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21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колони с карти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bg-BG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bg-BG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bg-BG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199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лавие и вертикален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934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но заглав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775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bg-BG"/>
            </a:p>
          </p:txBody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bg-BG"/>
            </a:p>
          </p:txBody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bg-BG"/>
            </a:p>
          </p:txBody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bg-BG"/>
            </a:p>
          </p:txBody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bg-BG"/>
            </a:p>
          </p:txBody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bg-BG"/>
            </a:p>
          </p:txBody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bg-BG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860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Проектиране на система за управление на автомобилно огледало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Дисциплина</a:t>
            </a:r>
            <a:r>
              <a:rPr dirty="0"/>
              <a:t>: </a:t>
            </a:r>
            <a:r>
              <a:rPr dirty="0" err="1"/>
              <a:t>Електрически</a:t>
            </a:r>
            <a:r>
              <a:rPr dirty="0"/>
              <a:t> </a:t>
            </a:r>
            <a:r>
              <a:rPr dirty="0" err="1"/>
              <a:t>машини</a:t>
            </a:r>
            <a:r>
              <a:rPr dirty="0"/>
              <a:t> и </a:t>
            </a:r>
            <a:r>
              <a:rPr dirty="0" err="1"/>
              <a:t>задвижване</a:t>
            </a:r>
            <a:r>
              <a:rPr dirty="0"/>
              <a:t> (VII </a:t>
            </a:r>
            <a:r>
              <a:rPr dirty="0" err="1"/>
              <a:t>семестър</a:t>
            </a:r>
            <a:r>
              <a:rPr dirty="0"/>
              <a:t>)</a:t>
            </a:r>
          </a:p>
          <a:p>
            <a:r>
              <a:rPr dirty="0" err="1"/>
              <a:t>Технически</a:t>
            </a:r>
            <a:r>
              <a:rPr dirty="0"/>
              <a:t> </a:t>
            </a:r>
            <a:r>
              <a:rPr dirty="0" err="1"/>
              <a:t>университет</a:t>
            </a:r>
            <a:r>
              <a:rPr dirty="0"/>
              <a:t> – </a:t>
            </a:r>
            <a:r>
              <a:rPr dirty="0" err="1"/>
              <a:t>София</a:t>
            </a:r>
            <a:endParaRPr dirty="0"/>
          </a:p>
          <a:p>
            <a:endParaRPr dirty="0"/>
          </a:p>
          <a:p>
            <a:r>
              <a:rPr dirty="0" err="1"/>
              <a:t>Екип</a:t>
            </a:r>
            <a:r>
              <a:rPr lang="en-US" dirty="0"/>
              <a:t>: </a:t>
            </a:r>
            <a:r>
              <a:rPr lang="bg-BG" dirty="0"/>
              <a:t>Александра Попова, Теодор Тумбалов, Велизара Василева, Станислав Петров</a:t>
            </a:r>
            <a:endParaRPr dirty="0"/>
          </a:p>
          <a:p>
            <a:r>
              <a:rPr dirty="0" err="1"/>
              <a:t>Ръководител</a:t>
            </a:r>
            <a:r>
              <a:rPr dirty="0"/>
              <a:t>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18099996-B9FB-DAD9-CE0B-62EC77E60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Въведение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9B5C867F-F5F4-4A8A-A871-EB84471796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Настоящата</a:t>
            </a:r>
            <a:r>
              <a:rPr lang="en-US" dirty="0"/>
              <a:t> </a:t>
            </a:r>
            <a:r>
              <a:rPr lang="bg-BG" dirty="0"/>
              <a:t>презентация</a:t>
            </a:r>
            <a:r>
              <a:rPr lang="en-US" dirty="0"/>
              <a:t> </a:t>
            </a:r>
            <a:r>
              <a:rPr lang="en-US" dirty="0" err="1"/>
              <a:t>описва</a:t>
            </a:r>
            <a:r>
              <a:rPr lang="en-US" dirty="0"/>
              <a:t> </a:t>
            </a:r>
            <a:r>
              <a:rPr lang="en-US" dirty="0" err="1"/>
              <a:t>проектирането</a:t>
            </a:r>
            <a:r>
              <a:rPr lang="en-US" dirty="0"/>
              <a:t> и </a:t>
            </a:r>
            <a:r>
              <a:rPr lang="en-US" dirty="0" err="1"/>
              <a:t>реализацията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управление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автомобилно</a:t>
            </a:r>
            <a:r>
              <a:rPr lang="en-US" dirty="0"/>
              <a:t> </a:t>
            </a:r>
            <a:r>
              <a:rPr lang="en-US" dirty="0" err="1"/>
              <a:t>огледало</a:t>
            </a:r>
            <a:r>
              <a:rPr lang="en-US" dirty="0"/>
              <a:t>. </a:t>
            </a:r>
            <a:r>
              <a:rPr lang="en-US" dirty="0" err="1"/>
              <a:t>Проектът</a:t>
            </a:r>
            <a:r>
              <a:rPr lang="en-US" dirty="0"/>
              <a:t> </a:t>
            </a:r>
            <a:r>
              <a:rPr lang="en-US" dirty="0" err="1"/>
              <a:t>се</a:t>
            </a:r>
            <a:r>
              <a:rPr lang="en-US" dirty="0"/>
              <a:t> </a:t>
            </a:r>
            <a:r>
              <a:rPr lang="en-US" dirty="0" err="1"/>
              <a:t>изпълнява</a:t>
            </a:r>
            <a:r>
              <a:rPr lang="en-US" dirty="0"/>
              <a:t> в </a:t>
            </a:r>
            <a:r>
              <a:rPr lang="en-US" dirty="0" err="1"/>
              <a:t>рамките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дисциплините</a:t>
            </a:r>
            <a:r>
              <a:rPr lang="en-US" dirty="0"/>
              <a:t> „</a:t>
            </a:r>
            <a:r>
              <a:rPr lang="en-US" dirty="0" err="1"/>
              <a:t>Електрически</a:t>
            </a:r>
            <a:r>
              <a:rPr lang="en-US" dirty="0"/>
              <a:t> </a:t>
            </a:r>
            <a:r>
              <a:rPr lang="en-US" dirty="0" err="1"/>
              <a:t>машини</a:t>
            </a:r>
            <a:r>
              <a:rPr lang="en-US" dirty="0"/>
              <a:t> и </a:t>
            </a:r>
            <a:r>
              <a:rPr lang="en-US" dirty="0" err="1"/>
              <a:t>задвижване</a:t>
            </a:r>
            <a:r>
              <a:rPr lang="en-US" dirty="0"/>
              <a:t>“ (VII </a:t>
            </a:r>
            <a:r>
              <a:rPr lang="en-US" dirty="0" err="1"/>
              <a:t>семестър</a:t>
            </a:r>
            <a:r>
              <a:rPr lang="en-US" dirty="0"/>
              <a:t>) и „</a:t>
            </a:r>
            <a:r>
              <a:rPr lang="en-US" dirty="0" err="1"/>
              <a:t>Стандарти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проектирането</a:t>
            </a:r>
            <a:r>
              <a:rPr lang="en-US" dirty="0"/>
              <a:t> и </a:t>
            </a:r>
            <a:r>
              <a:rPr lang="en-US" dirty="0" err="1"/>
              <a:t>производството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автомобилна</a:t>
            </a:r>
            <a:r>
              <a:rPr lang="en-US" dirty="0"/>
              <a:t> </a:t>
            </a:r>
            <a:r>
              <a:rPr lang="en-US" dirty="0" err="1"/>
              <a:t>електроника</a:t>
            </a:r>
            <a:r>
              <a:rPr lang="en-US" dirty="0"/>
              <a:t>“ (VIII </a:t>
            </a:r>
            <a:r>
              <a:rPr lang="en-US" dirty="0" err="1"/>
              <a:t>семестър</a:t>
            </a:r>
            <a:r>
              <a:rPr lang="en-US" dirty="0"/>
              <a:t>) в </a:t>
            </a:r>
            <a:r>
              <a:rPr lang="en-US" dirty="0" err="1"/>
              <a:t>Технически</a:t>
            </a:r>
            <a:r>
              <a:rPr lang="en-US" dirty="0"/>
              <a:t> </a:t>
            </a:r>
            <a:r>
              <a:rPr lang="en-US" dirty="0" err="1"/>
              <a:t>университет</a:t>
            </a:r>
            <a:r>
              <a:rPr lang="en-US" dirty="0"/>
              <a:t> – </a:t>
            </a:r>
            <a:r>
              <a:rPr lang="en-US" dirty="0" err="1"/>
              <a:t>София</a:t>
            </a:r>
            <a:r>
              <a:rPr lang="en-US" dirty="0"/>
              <a:t>.</a:t>
            </a:r>
            <a:endParaRPr lang="bg-BG" dirty="0"/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704330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8">
            <a:extLst>
              <a:ext uri="{FF2B5EF4-FFF2-40B4-BE49-F238E27FC236}">
                <a16:creationId xmlns:a16="http://schemas.microsoft.com/office/drawing/2014/main" id="{2F448CB3-7B4F-45D7-B7C0-DF553DF61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6" name="Rectangle 9">
              <a:extLst>
                <a:ext uri="{FF2B5EF4-FFF2-40B4-BE49-F238E27FC236}">
                  <a16:creationId xmlns:a16="http://schemas.microsoft.com/office/drawing/2014/main" id="{5C5305EA-7A88-413D-BE8A-47A02476F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bg-BG"/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FCA94DB5-FE56-4A3D-BC48-31B559519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bg-BG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973668"/>
            <a:ext cx="6571060" cy="706964"/>
          </a:xfrm>
        </p:spPr>
        <p:txBody>
          <a:bodyPr>
            <a:normAutofit/>
          </a:bodyPr>
          <a:lstStyle/>
          <a:p>
            <a:r>
              <a:rPr lang="bg-BG">
                <a:solidFill>
                  <a:srgbClr val="FFFFFF"/>
                </a:solidFill>
              </a:rPr>
              <a:t>Цел на проекта</a:t>
            </a:r>
          </a:p>
        </p:txBody>
      </p:sp>
      <p:sp>
        <p:nvSpPr>
          <p:cNvPr id="18" name="Rectangle 12">
            <a:extLst>
              <a:ext uri="{FF2B5EF4-FFF2-40B4-BE49-F238E27FC236}">
                <a16:creationId xmlns:a16="http://schemas.microsoft.com/office/drawing/2014/main" id="{F9ED434F-8767-46CC-B26B-5AF62FF01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bg-BG"/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484A73F7-21DB-8A1E-509F-C15449B0D9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0660135"/>
              </p:ext>
            </p:extLst>
          </p:nvPr>
        </p:nvGraphicFramePr>
        <p:xfrm>
          <a:off x="965200" y="2324100"/>
          <a:ext cx="7219037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bg-BG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1942938" y="1881194"/>
            <a:ext cx="3299407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bg-BG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3122264" y="751601"/>
            <a:ext cx="6053670" cy="5354799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bg-BG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bg-BG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5565" y="1130603"/>
            <a:ext cx="2506831" cy="4596794"/>
          </a:xfrm>
        </p:spPr>
        <p:txBody>
          <a:bodyPr anchor="ctr">
            <a:normAutofit/>
          </a:bodyPr>
          <a:lstStyle/>
          <a:p>
            <a:r>
              <a:rPr lang="bg-BG" sz="2800">
                <a:solidFill>
                  <a:srgbClr val="EBEBEB"/>
                </a:solidFill>
              </a:rPr>
              <a:t>Обхват на проекта (ЕМЗ)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7557" y="437513"/>
            <a:ext cx="4126961" cy="5954325"/>
          </a:xfrm>
        </p:spPr>
        <p:txBody>
          <a:bodyPr anchor="ctr">
            <a:normAutofit/>
          </a:bodyPr>
          <a:lstStyle/>
          <a:p>
            <a:r>
              <a:rPr lang="ru-RU" sz="1700"/>
              <a:t>Реализирано в сем. VII:</a:t>
            </a:r>
          </a:p>
          <a:p>
            <a:r>
              <a:rPr lang="ru-RU" sz="1700"/>
              <a:t>• Управление на огледалото</a:t>
            </a:r>
          </a:p>
          <a:p>
            <a:r>
              <a:rPr lang="ru-RU" sz="1700"/>
              <a:t>• PWM и ADC</a:t>
            </a:r>
          </a:p>
          <a:p>
            <a:r>
              <a:rPr lang="ru-RU" sz="1700"/>
              <a:t>• USB CDC комуникация</a:t>
            </a:r>
          </a:p>
          <a:p>
            <a:r>
              <a:rPr lang="ru-RU" sz="1700"/>
              <a:t>• Диагностика</a:t>
            </a:r>
          </a:p>
          <a:p>
            <a:endParaRPr lang="ru-RU" sz="1700"/>
          </a:p>
          <a:p>
            <a:r>
              <a:rPr lang="ru-RU" sz="1700"/>
              <a:t>Предвидено за сем. VIII:</a:t>
            </a:r>
          </a:p>
          <a:p>
            <a:r>
              <a:rPr lang="ru-RU" sz="1700"/>
              <a:t>• Подгрев на огледалото</a:t>
            </a:r>
          </a:p>
          <a:p>
            <a:r>
              <a:rPr lang="ru-RU" sz="1700"/>
              <a:t>• Памет за позиции</a:t>
            </a:r>
          </a:p>
          <a:p>
            <a:r>
              <a:rPr lang="ru-RU" sz="1700"/>
              <a:t>• Автомобилни стандарти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8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21" name="Rectangle 9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bg-BG"/>
            </a:p>
          </p:txBody>
        </p:sp>
        <p:sp>
          <p:nvSpPr>
            <p:cNvPr id="22" name="Oval 10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bg-BG"/>
            </a:p>
          </p:txBody>
        </p:sp>
        <p:sp>
          <p:nvSpPr>
            <p:cNvPr id="23" name="Oval 11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bg-BG"/>
            </a:p>
          </p:txBody>
        </p:sp>
        <p:sp>
          <p:nvSpPr>
            <p:cNvPr id="24" name="Rectangle 12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bg-BG"/>
            </a:p>
          </p:txBody>
        </p:sp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7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bg-BG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3667"/>
            <a:ext cx="2206657" cy="4833745"/>
          </a:xfrm>
        </p:spPr>
        <p:txBody>
          <a:bodyPr>
            <a:normAutofit/>
          </a:bodyPr>
          <a:lstStyle/>
          <a:p>
            <a:r>
              <a:rPr lang="bg-BG">
                <a:solidFill>
                  <a:srgbClr val="EBEBEB"/>
                </a:solidFill>
              </a:rPr>
              <a:t>Екип и роли</a:t>
            </a:r>
          </a:p>
        </p:txBody>
      </p:sp>
      <p:sp>
        <p:nvSpPr>
          <p:cNvPr id="28" name="Rectangle 17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bg-BG"/>
          </a:p>
        </p:txBody>
      </p:sp>
      <p:graphicFrame>
        <p:nvGraphicFramePr>
          <p:cNvPr id="29" name="Content Placeholder 2">
            <a:extLst>
              <a:ext uri="{FF2B5EF4-FFF2-40B4-BE49-F238E27FC236}">
                <a16:creationId xmlns:a16="http://schemas.microsoft.com/office/drawing/2014/main" id="{AF76B988-C0C0-E03A-D1D4-0AD6033380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5032063"/>
              </p:ext>
            </p:extLst>
          </p:nvPr>
        </p:nvGraphicFramePr>
        <p:xfrm>
          <a:off x="3895725" y="808038"/>
          <a:ext cx="4793456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Архитектура на системата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PC → USB CDC → STM32 MCU</a:t>
            </a:r>
            <a:r>
              <a:rPr lang="bg-BG" dirty="0"/>
              <a:t> </a:t>
            </a:r>
            <a:r>
              <a:rPr dirty="0"/>
              <a:t>→ PWM → </a:t>
            </a:r>
            <a:r>
              <a:rPr dirty="0" err="1"/>
              <a:t>мотори</a:t>
            </a:r>
            <a:r>
              <a:rPr dirty="0"/>
              <a:t> / LED</a:t>
            </a:r>
            <a:r>
              <a:rPr lang="bg-BG" dirty="0"/>
              <a:t> </a:t>
            </a:r>
            <a:r>
              <a:rPr dirty="0"/>
              <a:t>→ ADC → </a:t>
            </a:r>
            <a:r>
              <a:rPr dirty="0" err="1"/>
              <a:t>позиция</a:t>
            </a:r>
            <a:r>
              <a:rPr dirty="0"/>
              <a:t> и </a:t>
            </a:r>
            <a:r>
              <a:rPr dirty="0" err="1"/>
              <a:t>ток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219AE65-9B94-44EA-BEF3-EF4BFA169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C81A57-9CD5-461B-8FFE-4A8CB6CFB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63154" y="467397"/>
            <a:ext cx="521872" cy="591911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bg-BG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086C462-37F4-494D-8292-CCB95221C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  <a:solidFill>
            <a:srgbClr val="FFFFFF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C7D2D64-353F-4802-AA48-A70CE6020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bg-BG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30A6328F-CAA3-4052-BF4C-14BD47706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rgbClr r="0" g="0" b="0"/>
            </a:lnRef>
            <a:fillRef idx="1002">
              <a:schemeClr val="dk2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endParaRPr lang="bg-BG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0279" y="1209957"/>
            <a:ext cx="2275935" cy="4438087"/>
          </a:xfrm>
        </p:spPr>
        <p:txBody>
          <a:bodyPr anchor="ctr">
            <a:normAutofit/>
          </a:bodyPr>
          <a:lstStyle/>
          <a:p>
            <a:pPr algn="r"/>
            <a:r>
              <a:rPr lang="bg-BG" sz="2600">
                <a:solidFill>
                  <a:schemeClr val="tx1"/>
                </a:solidFill>
              </a:rPr>
              <a:t>Хардуерна архитектура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D23B2CD-009B-425A-9616-1E1AD1D5A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267515" y="1930986"/>
            <a:ext cx="0" cy="3200400"/>
          </a:xfrm>
          <a:prstGeom prst="line">
            <a:avLst/>
          </a:prstGeom>
          <a:ln w="15875" cap="sq">
            <a:solidFill>
              <a:schemeClr val="tx2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08818" y="1059025"/>
            <a:ext cx="3976641" cy="4739950"/>
          </a:xfrm>
        </p:spPr>
        <p:txBody>
          <a:bodyPr anchor="ctr">
            <a:normAutofit/>
          </a:bodyPr>
          <a:lstStyle/>
          <a:p>
            <a:r>
              <a:rPr lang="ru-RU">
                <a:solidFill>
                  <a:schemeClr val="tx1"/>
                </a:solidFill>
              </a:rPr>
              <a:t>• STM32 микроконтролер</a:t>
            </a:r>
          </a:p>
          <a:p>
            <a:r>
              <a:rPr lang="ru-RU">
                <a:solidFill>
                  <a:schemeClr val="tx1"/>
                </a:solidFill>
              </a:rPr>
              <a:t>• PWM канали за X, Y и мигач</a:t>
            </a:r>
          </a:p>
          <a:p>
            <a:r>
              <a:rPr lang="ru-RU">
                <a:solidFill>
                  <a:schemeClr val="tx1"/>
                </a:solidFill>
              </a:rPr>
              <a:t>• ADC канали за позиция и ток</a:t>
            </a:r>
          </a:p>
          <a:p>
            <a:r>
              <a:rPr lang="ru-RU">
                <a:solidFill>
                  <a:schemeClr val="tx1"/>
                </a:solidFill>
              </a:rPr>
              <a:t>• Бутони за ръчно управление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Картина 2" descr="Картина, която съдържа текст, бяла дъска, почерк, на закрито&#10;&#10;Генерираното от ИИ съдържание може да е неправилно.">
            <a:extLst>
              <a:ext uri="{FF2B5EF4-FFF2-40B4-BE49-F238E27FC236}">
                <a16:creationId xmlns:a16="http://schemas.microsoft.com/office/drawing/2014/main" id="{B6E0EAD7-DA3B-302A-42FE-CD279AF9AE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79" t="7742" r="10322" b="18136"/>
          <a:stretch>
            <a:fillRect/>
          </a:stretch>
        </p:blipFill>
        <p:spPr>
          <a:xfrm>
            <a:off x="-15139" y="0"/>
            <a:ext cx="91549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737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Картина 2" descr="Картина, която съдържа текст, рисунка, скица, почерк&#10;&#10;Генерираното от ИИ съдържание може да е неправилно.">
            <a:extLst>
              <a:ext uri="{FF2B5EF4-FFF2-40B4-BE49-F238E27FC236}">
                <a16:creationId xmlns:a16="http://schemas.microsoft.com/office/drawing/2014/main" id="{75111895-2097-D95E-5C38-74221D179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9207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7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9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bg-BG"/>
          </a:p>
        </p:txBody>
      </p:sp>
      <p:sp>
        <p:nvSpPr>
          <p:cNvPr id="20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1942938" y="1881194"/>
            <a:ext cx="3299407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bg-BG"/>
          </a:p>
        </p:txBody>
      </p:sp>
      <p:sp>
        <p:nvSpPr>
          <p:cNvPr id="21" name="Freeform: Shape 13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3122264" y="751601"/>
            <a:ext cx="6053670" cy="5354799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bg-BG"/>
          </a:p>
        </p:txBody>
      </p:sp>
      <p:sp>
        <p:nvSpPr>
          <p:cNvPr id="22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bg-BG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5565" y="1130603"/>
            <a:ext cx="2506831" cy="4596794"/>
          </a:xfrm>
        </p:spPr>
        <p:txBody>
          <a:bodyPr anchor="ctr">
            <a:normAutofit/>
          </a:bodyPr>
          <a:lstStyle/>
          <a:p>
            <a:r>
              <a:rPr lang="bg-BG" sz="2800">
                <a:solidFill>
                  <a:srgbClr val="EBEBEB"/>
                </a:solidFill>
              </a:rPr>
              <a:t>Софтуерна архитектура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7557" y="437513"/>
            <a:ext cx="4126961" cy="5954325"/>
          </a:xfrm>
        </p:spPr>
        <p:txBody>
          <a:bodyPr anchor="ctr">
            <a:normAutofit/>
          </a:bodyPr>
          <a:lstStyle/>
          <a:p>
            <a:r>
              <a:rPr lang="bg-BG" sz="1700"/>
              <a:t>• Модулна структура</a:t>
            </a:r>
          </a:p>
          <a:p>
            <a:r>
              <a:rPr lang="bg-BG" sz="1700"/>
              <a:t>• </a:t>
            </a:r>
            <a:r>
              <a:rPr lang="en-US" sz="1700"/>
              <a:t>Main Control</a:t>
            </a:r>
          </a:p>
          <a:p>
            <a:r>
              <a:rPr lang="en-US" sz="1700"/>
              <a:t>• Motor Control</a:t>
            </a:r>
          </a:p>
          <a:p>
            <a:r>
              <a:rPr lang="en-US" sz="1700"/>
              <a:t>• Turn Indicator</a:t>
            </a:r>
          </a:p>
          <a:p>
            <a:r>
              <a:rPr lang="en-US" sz="1700"/>
              <a:t>• Diagnostics</a:t>
            </a:r>
          </a:p>
          <a:p>
            <a:r>
              <a:rPr lang="en-US" sz="1700"/>
              <a:t>• Communication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314C310-850D-4491-AA52-C75BEA68B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4EC3799-3F52-48CE-85CC-83AED368E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3FC2939-BF10-4CBC-904B-74A17D4B9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bg-BG"/>
            </a:p>
          </p:txBody>
        </p:sp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266B6D5D-11B6-40A6-9CEF-F0B0D104C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/>
            <a:lstStyle/>
            <a:p>
              <a:endParaRPr lang="bg-BG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7185" y="1085549"/>
            <a:ext cx="2573210" cy="4686903"/>
          </a:xfrm>
        </p:spPr>
        <p:txBody>
          <a:bodyPr anchor="ctr">
            <a:normAutofit/>
          </a:bodyPr>
          <a:lstStyle/>
          <a:p>
            <a:pPr algn="r"/>
            <a:r>
              <a:rPr lang="bg-BG" sz="3000">
                <a:solidFill>
                  <a:schemeClr val="tx1"/>
                </a:solidFill>
              </a:rPr>
              <a:t>Алгоритъм на управление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89E20C7-BB50-4317-93C7-90C8ED80B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930986"/>
            <a:ext cx="0" cy="3200400"/>
          </a:xfrm>
          <a:prstGeom prst="line">
            <a:avLst/>
          </a:prstGeom>
          <a:ln w="15875" cap="sq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1049" y="1085549"/>
            <a:ext cx="4184780" cy="4686903"/>
          </a:xfrm>
        </p:spPr>
        <p:txBody>
          <a:bodyPr anchor="ctr">
            <a:normAutofit/>
          </a:bodyPr>
          <a:lstStyle/>
          <a:p>
            <a:r>
              <a:rPr lang="ru-RU">
                <a:solidFill>
                  <a:schemeClr val="tx1"/>
                </a:solidFill>
              </a:rPr>
              <a:t>• Главен контролен цикъл</a:t>
            </a:r>
          </a:p>
          <a:p>
            <a:r>
              <a:rPr lang="ru-RU">
                <a:solidFill>
                  <a:schemeClr val="tx1"/>
                </a:solidFill>
              </a:rPr>
              <a:t>• Машина на състоянията</a:t>
            </a:r>
          </a:p>
          <a:p>
            <a:r>
              <a:rPr lang="ru-RU">
                <a:solidFill>
                  <a:schemeClr val="tx1"/>
                </a:solidFill>
              </a:rPr>
              <a:t>• Защити при грешки</a:t>
            </a:r>
          </a:p>
          <a:p>
            <a:r>
              <a:rPr lang="ru-RU">
                <a:solidFill>
                  <a:schemeClr val="tx1"/>
                </a:solidFill>
              </a:rPr>
              <a:t>• Управление от PC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3EF4D6-026A-4D52-B916-967329EE3F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4DB4846F-6AA5-4DB3-9581-D95F22BD56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21010068">
            <a:off x="6368213" y="1797517"/>
            <a:ext cx="2474555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54EC22E-2292-4292-A80B-E81DF64BFB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780041"/>
            <a:ext cx="9144000" cy="5077959"/>
          </a:xfrm>
          <a:custGeom>
            <a:avLst/>
            <a:gdLst>
              <a:gd name="connsiteX0" fmla="*/ 12192000 w 12192000"/>
              <a:gd name="connsiteY0" fmla="*/ 0 h 5077959"/>
              <a:gd name="connsiteX1" fmla="*/ 12192000 w 12192000"/>
              <a:gd name="connsiteY1" fmla="*/ 1972152 h 5077959"/>
              <a:gd name="connsiteX2" fmla="*/ 12192000 w 12192000"/>
              <a:gd name="connsiteY2" fmla="*/ 2361342 h 5077959"/>
              <a:gd name="connsiteX3" fmla="*/ 12192000 w 12192000"/>
              <a:gd name="connsiteY3" fmla="*/ 5077959 h 5077959"/>
              <a:gd name="connsiteX4" fmla="*/ 0 w 12192000"/>
              <a:gd name="connsiteY4" fmla="*/ 5077959 h 5077959"/>
              <a:gd name="connsiteX5" fmla="*/ 0 w 12192000"/>
              <a:gd name="connsiteY5" fmla="*/ 2361342 h 5077959"/>
              <a:gd name="connsiteX6" fmla="*/ 0 w 12192000"/>
              <a:gd name="connsiteY6" fmla="*/ 1972152 h 5077959"/>
              <a:gd name="connsiteX7" fmla="*/ 0 w 12192000"/>
              <a:gd name="connsiteY7" fmla="*/ 12515 h 5077959"/>
              <a:gd name="connsiteX8" fmla="*/ 108623 w 12192000"/>
              <a:gd name="connsiteY8" fmla="*/ 29540 h 5077959"/>
              <a:gd name="connsiteX9" fmla="*/ 300195 w 12192000"/>
              <a:gd name="connsiteY9" fmla="*/ 56163 h 5077959"/>
              <a:gd name="connsiteX10" fmla="*/ 527528 w 12192000"/>
              <a:gd name="connsiteY10" fmla="*/ 88041 h 5077959"/>
              <a:gd name="connsiteX11" fmla="*/ 779127 w 12192000"/>
              <a:gd name="connsiteY11" fmla="*/ 121671 h 5077959"/>
              <a:gd name="connsiteX12" fmla="*/ 1062654 w 12192000"/>
              <a:gd name="connsiteY12" fmla="*/ 157052 h 5077959"/>
              <a:gd name="connsiteX13" fmla="*/ 1371726 w 12192000"/>
              <a:gd name="connsiteY13" fmla="*/ 194535 h 5077959"/>
              <a:gd name="connsiteX14" fmla="*/ 1707616 w 12192000"/>
              <a:gd name="connsiteY14" fmla="*/ 232018 h 5077959"/>
              <a:gd name="connsiteX15" fmla="*/ 2065219 w 12192000"/>
              <a:gd name="connsiteY15" fmla="*/ 270201 h 5077959"/>
              <a:gd name="connsiteX16" fmla="*/ 2450918 w 12192000"/>
              <a:gd name="connsiteY16" fmla="*/ 305583 h 5077959"/>
              <a:gd name="connsiteX17" fmla="*/ 2854496 w 12192000"/>
              <a:gd name="connsiteY17" fmla="*/ 339562 h 5077959"/>
              <a:gd name="connsiteX18" fmla="*/ 3281065 w 12192000"/>
              <a:gd name="connsiteY18" fmla="*/ 370390 h 5077959"/>
              <a:gd name="connsiteX19" fmla="*/ 3725514 w 12192000"/>
              <a:gd name="connsiteY19" fmla="*/ 399815 h 5077959"/>
              <a:gd name="connsiteX20" fmla="*/ 4189119 w 12192000"/>
              <a:gd name="connsiteY20" fmla="*/ 427490 h 5077959"/>
              <a:gd name="connsiteX21" fmla="*/ 4426671 w 12192000"/>
              <a:gd name="connsiteY21" fmla="*/ 437298 h 5077959"/>
              <a:gd name="connsiteX22" fmla="*/ 4669330 w 12192000"/>
              <a:gd name="connsiteY22" fmla="*/ 448158 h 5077959"/>
              <a:gd name="connsiteX23" fmla="*/ 4915819 w 12192000"/>
              <a:gd name="connsiteY23" fmla="*/ 458317 h 5077959"/>
              <a:gd name="connsiteX24" fmla="*/ 5163586 w 12192000"/>
              <a:gd name="connsiteY24" fmla="*/ 464973 h 5077959"/>
              <a:gd name="connsiteX25" fmla="*/ 5416461 w 12192000"/>
              <a:gd name="connsiteY25" fmla="*/ 470928 h 5077959"/>
              <a:gd name="connsiteX26" fmla="*/ 5671892 w 12192000"/>
              <a:gd name="connsiteY26" fmla="*/ 477234 h 5077959"/>
              <a:gd name="connsiteX27" fmla="*/ 5932430 w 12192000"/>
              <a:gd name="connsiteY27" fmla="*/ 481437 h 5077959"/>
              <a:gd name="connsiteX28" fmla="*/ 6195523 w 12192000"/>
              <a:gd name="connsiteY28" fmla="*/ 481437 h 5077959"/>
              <a:gd name="connsiteX29" fmla="*/ 6461170 w 12192000"/>
              <a:gd name="connsiteY29" fmla="*/ 483539 h 5077959"/>
              <a:gd name="connsiteX30" fmla="*/ 6729372 w 12192000"/>
              <a:gd name="connsiteY30" fmla="*/ 481437 h 5077959"/>
              <a:gd name="connsiteX31" fmla="*/ 7001406 w 12192000"/>
              <a:gd name="connsiteY31" fmla="*/ 477234 h 5077959"/>
              <a:gd name="connsiteX32" fmla="*/ 7273439 w 12192000"/>
              <a:gd name="connsiteY32" fmla="*/ 473380 h 5077959"/>
              <a:gd name="connsiteX33" fmla="*/ 7549303 w 12192000"/>
              <a:gd name="connsiteY33" fmla="*/ 464973 h 5077959"/>
              <a:gd name="connsiteX34" fmla="*/ 7827722 w 12192000"/>
              <a:gd name="connsiteY34" fmla="*/ 456215 h 5077959"/>
              <a:gd name="connsiteX35" fmla="*/ 8106140 w 12192000"/>
              <a:gd name="connsiteY35" fmla="*/ 446056 h 5077959"/>
              <a:gd name="connsiteX36" fmla="*/ 8387114 w 12192000"/>
              <a:gd name="connsiteY36" fmla="*/ 431694 h 5077959"/>
              <a:gd name="connsiteX37" fmla="*/ 8670640 w 12192000"/>
              <a:gd name="connsiteY37" fmla="*/ 414528 h 5077959"/>
              <a:gd name="connsiteX38" fmla="*/ 8955446 w 12192000"/>
              <a:gd name="connsiteY38" fmla="*/ 398064 h 5077959"/>
              <a:gd name="connsiteX39" fmla="*/ 9240250 w 12192000"/>
              <a:gd name="connsiteY39" fmla="*/ 377045 h 5077959"/>
              <a:gd name="connsiteX40" fmla="*/ 9528886 w 12192000"/>
              <a:gd name="connsiteY40" fmla="*/ 351823 h 5077959"/>
              <a:gd name="connsiteX41" fmla="*/ 9813691 w 12192000"/>
              <a:gd name="connsiteY41" fmla="*/ 326601 h 5077959"/>
              <a:gd name="connsiteX42" fmla="*/ 10103603 w 12192000"/>
              <a:gd name="connsiteY42" fmla="*/ 297525 h 5077959"/>
              <a:gd name="connsiteX43" fmla="*/ 10394794 w 12192000"/>
              <a:gd name="connsiteY43" fmla="*/ 265647 h 5077959"/>
              <a:gd name="connsiteX44" fmla="*/ 10682153 w 12192000"/>
              <a:gd name="connsiteY44" fmla="*/ 232018 h 5077959"/>
              <a:gd name="connsiteX45" fmla="*/ 10973344 w 12192000"/>
              <a:gd name="connsiteY45" fmla="*/ 192783 h 5077959"/>
              <a:gd name="connsiteX46" fmla="*/ 11263257 w 12192000"/>
              <a:gd name="connsiteY46" fmla="*/ 150746 h 5077959"/>
              <a:gd name="connsiteX47" fmla="*/ 11554448 w 12192000"/>
              <a:gd name="connsiteY47" fmla="*/ 109060 h 5077959"/>
              <a:gd name="connsiteX48" fmla="*/ 11844360 w 12192000"/>
              <a:gd name="connsiteY48" fmla="*/ 60367 h 5077959"/>
              <a:gd name="connsiteX49" fmla="*/ 12132996 w 12192000"/>
              <a:gd name="connsiteY49" fmla="*/ 10623 h 5077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12192000" h="5077959">
                <a:moveTo>
                  <a:pt x="12192000" y="0"/>
                </a:moveTo>
                <a:lnTo>
                  <a:pt x="12192000" y="1972152"/>
                </a:lnTo>
                <a:lnTo>
                  <a:pt x="12192000" y="2361342"/>
                </a:lnTo>
                <a:lnTo>
                  <a:pt x="12192000" y="5077959"/>
                </a:lnTo>
                <a:lnTo>
                  <a:pt x="0" y="5077959"/>
                </a:lnTo>
                <a:lnTo>
                  <a:pt x="0" y="2361342"/>
                </a:lnTo>
                <a:lnTo>
                  <a:pt x="0" y="1972152"/>
                </a:lnTo>
                <a:lnTo>
                  <a:pt x="0" y="12515"/>
                </a:lnTo>
                <a:lnTo>
                  <a:pt x="108623" y="29540"/>
                </a:lnTo>
                <a:lnTo>
                  <a:pt x="300195" y="56163"/>
                </a:lnTo>
                <a:lnTo>
                  <a:pt x="527528" y="88041"/>
                </a:lnTo>
                <a:lnTo>
                  <a:pt x="779127" y="121671"/>
                </a:lnTo>
                <a:lnTo>
                  <a:pt x="1062654" y="157052"/>
                </a:lnTo>
                <a:lnTo>
                  <a:pt x="1371726" y="194535"/>
                </a:lnTo>
                <a:lnTo>
                  <a:pt x="1707616" y="232018"/>
                </a:lnTo>
                <a:lnTo>
                  <a:pt x="2065219" y="270201"/>
                </a:lnTo>
                <a:lnTo>
                  <a:pt x="2450918" y="305583"/>
                </a:lnTo>
                <a:lnTo>
                  <a:pt x="2854496" y="339562"/>
                </a:lnTo>
                <a:lnTo>
                  <a:pt x="3281065" y="370390"/>
                </a:lnTo>
                <a:lnTo>
                  <a:pt x="3725514" y="399815"/>
                </a:lnTo>
                <a:lnTo>
                  <a:pt x="4189119" y="427490"/>
                </a:lnTo>
                <a:lnTo>
                  <a:pt x="4426671" y="437298"/>
                </a:lnTo>
                <a:lnTo>
                  <a:pt x="4669330" y="448158"/>
                </a:lnTo>
                <a:lnTo>
                  <a:pt x="4915819" y="458317"/>
                </a:lnTo>
                <a:lnTo>
                  <a:pt x="5163586" y="464973"/>
                </a:lnTo>
                <a:lnTo>
                  <a:pt x="5416461" y="470928"/>
                </a:lnTo>
                <a:lnTo>
                  <a:pt x="5671892" y="477234"/>
                </a:lnTo>
                <a:lnTo>
                  <a:pt x="5932430" y="481437"/>
                </a:lnTo>
                <a:lnTo>
                  <a:pt x="6195523" y="481437"/>
                </a:lnTo>
                <a:lnTo>
                  <a:pt x="6461170" y="483539"/>
                </a:lnTo>
                <a:lnTo>
                  <a:pt x="6729372" y="481437"/>
                </a:lnTo>
                <a:lnTo>
                  <a:pt x="7001406" y="477234"/>
                </a:lnTo>
                <a:lnTo>
                  <a:pt x="7273439" y="473380"/>
                </a:lnTo>
                <a:lnTo>
                  <a:pt x="7549303" y="464973"/>
                </a:lnTo>
                <a:lnTo>
                  <a:pt x="7827722" y="456215"/>
                </a:lnTo>
                <a:lnTo>
                  <a:pt x="8106140" y="446056"/>
                </a:lnTo>
                <a:lnTo>
                  <a:pt x="8387114" y="431694"/>
                </a:lnTo>
                <a:lnTo>
                  <a:pt x="8670640" y="414528"/>
                </a:lnTo>
                <a:lnTo>
                  <a:pt x="8955446" y="398064"/>
                </a:lnTo>
                <a:lnTo>
                  <a:pt x="9240250" y="377045"/>
                </a:lnTo>
                <a:lnTo>
                  <a:pt x="9528886" y="351823"/>
                </a:lnTo>
                <a:lnTo>
                  <a:pt x="9813691" y="326601"/>
                </a:lnTo>
                <a:lnTo>
                  <a:pt x="10103603" y="297525"/>
                </a:lnTo>
                <a:lnTo>
                  <a:pt x="10394794" y="265647"/>
                </a:lnTo>
                <a:lnTo>
                  <a:pt x="10682153" y="232018"/>
                </a:lnTo>
                <a:lnTo>
                  <a:pt x="10973344" y="192783"/>
                </a:lnTo>
                <a:lnTo>
                  <a:pt x="11263257" y="150746"/>
                </a:lnTo>
                <a:lnTo>
                  <a:pt x="11554448" y="109060"/>
                </a:lnTo>
                <a:lnTo>
                  <a:pt x="11844360" y="60367"/>
                </a:lnTo>
                <a:lnTo>
                  <a:pt x="12132996" y="1062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C1C7165-8A3A-44EB-88D0-4EFA36A00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bg-BG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A1081473-BB93-49A4-B605-4E20537397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bg-BG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2378" y="838200"/>
            <a:ext cx="6619244" cy="977902"/>
          </a:xfrm>
        </p:spPr>
        <p:txBody>
          <a:bodyPr>
            <a:normAutofit/>
          </a:bodyPr>
          <a:lstStyle/>
          <a:p>
            <a:pPr algn="ctr"/>
            <a:r>
              <a:rPr lang="bg-BG">
                <a:solidFill>
                  <a:srgbClr val="EBEBEB"/>
                </a:solidFill>
              </a:rPr>
              <a:t>Диагностика и протокол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2378" y="2757942"/>
            <a:ext cx="6619244" cy="3261857"/>
          </a:xfrm>
        </p:spPr>
        <p:txBody>
          <a:bodyPr>
            <a:normAutofit/>
          </a:bodyPr>
          <a:lstStyle/>
          <a:p>
            <a:r>
              <a:rPr lang="bg-BG" sz="1700">
                <a:solidFill>
                  <a:srgbClr val="404040"/>
                </a:solidFill>
              </a:rPr>
              <a:t>• Диагностика: свръхток, отворена верига</a:t>
            </a:r>
          </a:p>
          <a:p>
            <a:r>
              <a:rPr lang="bg-BG" sz="1700">
                <a:solidFill>
                  <a:srgbClr val="404040"/>
                </a:solidFill>
              </a:rPr>
              <a:t>• Статус към </a:t>
            </a:r>
            <a:r>
              <a:rPr lang="en-US" sz="1700">
                <a:solidFill>
                  <a:srgbClr val="404040"/>
                </a:solidFill>
              </a:rPr>
              <a:t>PC </a:t>
            </a:r>
            <a:r>
              <a:rPr lang="bg-BG" sz="1700">
                <a:solidFill>
                  <a:srgbClr val="404040"/>
                </a:solidFill>
              </a:rPr>
              <a:t>на 1 секунда</a:t>
            </a:r>
          </a:p>
          <a:p>
            <a:r>
              <a:rPr lang="bg-BG" sz="1700">
                <a:solidFill>
                  <a:srgbClr val="404040"/>
                </a:solidFill>
              </a:rPr>
              <a:t>• Команди:</a:t>
            </a:r>
          </a:p>
          <a:p>
            <a:r>
              <a:rPr lang="bg-BG" sz="1700">
                <a:solidFill>
                  <a:srgbClr val="404040"/>
                </a:solidFill>
              </a:rPr>
              <a:t>  </a:t>
            </a:r>
            <a:r>
              <a:rPr lang="en-US" sz="1700">
                <a:solidFill>
                  <a:srgbClr val="404040"/>
                </a:solidFill>
              </a:rPr>
              <a:t>MIR, YYYY, XXXX</a:t>
            </a:r>
          </a:p>
          <a:p>
            <a:r>
              <a:rPr lang="en-US" sz="1700">
                <a:solidFill>
                  <a:srgbClr val="404040"/>
                </a:solidFill>
              </a:rPr>
              <a:t>  TURNINDC, PWM, T_ON, T_OFF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Демонстрация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Движение на огледалото</a:t>
            </a:r>
          </a:p>
          <a:p>
            <a:r>
              <a:t>• Управление от PC</a:t>
            </a:r>
          </a:p>
          <a:p>
            <a:r>
              <a:t>• Мигач с PWM</a:t>
            </a:r>
          </a:p>
          <a:p>
            <a:r>
              <a:t>• Репортуване на грешки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219AE65-9B94-44EA-BEF3-EF4BFA169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C81A57-9CD5-461B-8FFE-4A8CB6CFB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63154" y="467397"/>
            <a:ext cx="521872" cy="5919116"/>
          </a:xfrm>
          <a:prstGeom prst="rect">
            <a:avLst/>
          </a:prstGeom>
          <a:solidFill>
            <a:srgbClr val="0D0D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bg-BG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086C462-37F4-494D-8292-CCB95221C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  <a:solidFill>
            <a:srgbClr val="FFFFFF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C7D2D64-353F-4802-AA48-A70CE6020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bg-BG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30A6328F-CAA3-4052-BF4C-14BD47706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bg-BG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855481"/>
            <a:ext cx="6571060" cy="898674"/>
          </a:xfrm>
        </p:spPr>
        <p:txBody>
          <a:bodyPr anchor="b">
            <a:normAutofit/>
          </a:bodyPr>
          <a:lstStyle/>
          <a:p>
            <a:r>
              <a:rPr lang="bg-BG">
                <a:solidFill>
                  <a:schemeClr val="tx1"/>
                </a:solidFill>
              </a:rPr>
              <a:t>Заключение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215" y="2079173"/>
            <a:ext cx="6136643" cy="3730689"/>
          </a:xfrm>
        </p:spPr>
        <p:txBody>
          <a:bodyPr anchor="ctr">
            <a:normAutofit/>
          </a:bodyPr>
          <a:lstStyle/>
          <a:p>
            <a:r>
              <a:rPr lang="ru-RU">
                <a:solidFill>
                  <a:schemeClr val="tx1"/>
                </a:solidFill>
              </a:rPr>
              <a:t>• Изпълнени всички основни изисквания</a:t>
            </a:r>
          </a:p>
          <a:p>
            <a:r>
              <a:rPr lang="ru-RU">
                <a:solidFill>
                  <a:schemeClr val="tx1"/>
                </a:solidFill>
              </a:rPr>
              <a:t>• Проектът е модулен и разширяем</a:t>
            </a:r>
          </a:p>
          <a:p>
            <a:r>
              <a:rPr lang="ru-RU">
                <a:solidFill>
                  <a:schemeClr val="tx1"/>
                </a:solidFill>
              </a:rPr>
              <a:t>• Подготвен за надграждане в сем. VIII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Йон – заседателна зала">
  <a:themeElements>
    <a:clrScheme name="Йон – заседателна зала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Йон – заседателна зала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Йон – заседателна зала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86</TotalTime>
  <Words>378</Words>
  <Application>Microsoft Office PowerPoint</Application>
  <PresentationFormat>Презентация на цял екран (4:3)</PresentationFormat>
  <Paragraphs>65</Paragraphs>
  <Slides>14</Slides>
  <Notes>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14</vt:i4>
      </vt:variant>
    </vt:vector>
  </HeadingPairs>
  <TitlesOfParts>
    <vt:vector size="18" baseType="lpstr">
      <vt:lpstr>Arial</vt:lpstr>
      <vt:lpstr>Century Gothic</vt:lpstr>
      <vt:lpstr>Wingdings 3</vt:lpstr>
      <vt:lpstr>Йон – заседателна зала</vt:lpstr>
      <vt:lpstr>Проектиране на система за управление на автомобилно огледало</vt:lpstr>
      <vt:lpstr>Въведение</vt:lpstr>
      <vt:lpstr>Цел на проекта</vt:lpstr>
      <vt:lpstr>Обхват на проекта (ЕМЗ)</vt:lpstr>
      <vt:lpstr>Екип и роли</vt:lpstr>
      <vt:lpstr>Архитектура на системата</vt:lpstr>
      <vt:lpstr>Хардуерна архитектура</vt:lpstr>
      <vt:lpstr>Презентация на PowerPoint</vt:lpstr>
      <vt:lpstr>Презентация на PowerPoint</vt:lpstr>
      <vt:lpstr>Софтуерна архитектура</vt:lpstr>
      <vt:lpstr>Алгоритъм на управление</vt:lpstr>
      <vt:lpstr>Диагностика и протокол</vt:lpstr>
      <vt:lpstr>Демонстрация</vt:lpstr>
      <vt:lpstr>Заключение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Александра Попова</cp:lastModifiedBy>
  <cp:revision>2</cp:revision>
  <dcterms:created xsi:type="dcterms:W3CDTF">2013-01-27T09:14:16Z</dcterms:created>
  <dcterms:modified xsi:type="dcterms:W3CDTF">2025-12-18T21:06:20Z</dcterms:modified>
  <cp:category/>
</cp:coreProperties>
</file>